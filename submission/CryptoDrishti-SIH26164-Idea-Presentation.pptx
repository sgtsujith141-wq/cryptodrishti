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" y="1810512"/>
            <a:ext cx="5897880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>
                <a:solidFill>
                  <a:srgbClr val="9E3A24"/>
                </a:solidFill>
              </a:rPr>
              <a:t>CryptoDrishti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800" b="0" i="0">
                <a:solidFill>
                  <a:srgbClr val="1A1A1C"/>
                </a:solidFill>
              </a:rPr>
              <a:t>An evidence-driven tool for discovering enterprise cryptography, assessing quantum exposure and planning post-quantum migration.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Problem Statement ID – </a:t>
            </a:r>
            <a:r>
              <a:rPr sz="1600" b="0" i="0">
                <a:solidFill>
                  <a:srgbClr val="3E3E44"/>
                </a:solidFill>
              </a:rPr>
              <a:t>SIH26164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Problem Statement Title – </a:t>
            </a:r>
            <a:r>
              <a:rPr sz="1600" b="0" i="0">
                <a:solidFill>
                  <a:srgbClr val="3E3E44"/>
                </a:solidFill>
              </a:rPr>
              <a:t>Enterprise Cryptographic Discovery &amp; Analysis Tool (ECDAT)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Theme – </a:t>
            </a:r>
            <a:r>
              <a:rPr sz="1600" b="0" i="0">
                <a:solidFill>
                  <a:srgbClr val="3E3E44"/>
                </a:solidFill>
              </a:rPr>
              <a:t>26164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PS Category – </a:t>
            </a:r>
            <a:r>
              <a:rPr sz="1600" b="0" i="0">
                <a:solidFill>
                  <a:srgbClr val="3E3E44"/>
                </a:solidFill>
              </a:rPr>
              <a:t>Software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Team ID – </a:t>
            </a:r>
            <a:r>
              <a:rPr sz="1600" b="0" i="0">
                <a:solidFill>
                  <a:srgbClr val="3E3E44"/>
                </a:solidFill>
              </a:rPr>
              <a:t>146876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1A1A1C"/>
                </a:solidFill>
              </a:rPr>
              <a:t>Team Name – </a:t>
            </a:r>
            <a:r>
              <a:rPr sz="1600" b="0" i="0">
                <a:solidFill>
                  <a:srgbClr val="3E3E44"/>
                </a:solidFill>
              </a:rPr>
              <a:t>Zero-Day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CryptoDrishti  |  PROPOSED SOLUTION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15362" name="cd-body"/>
          <p:cNvSpPr txBox="1">
            <a:spLocks noChangeArrowheads="1"/>
          </p:cNvSpPr>
          <p:nvPr/>
        </p:nvSpPr>
        <p:spPr bwMode="auto">
          <a:xfrm>
            <a:off x="420624" y="1097280"/>
            <a:ext cx="4992624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i="0">
                <a:solidFill>
                  <a:srgbClr val="9E3A24"/>
                </a:solidFill>
              </a:rPr>
              <a:t>The problem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sz="1500" b="0" i="0">
                <a:solidFill>
                  <a:srgbClr val="3E3E44"/>
                </a:solidFill>
              </a:rPr>
              <a:t>Cryptographic assets are spread across application code, third-party libraries, configuration, certificates, compiled binaries and container images. Each records cryptography differently, and none of them is a list. Without a reliable inventory, an organisation cannot say which assets need quantum-safe migration, or in what order.</a:t>
            </a:r>
          </a:p>
          <a:p>
            <a:pPr marL="0" indent="0">
              <a:spcBef>
                <a:spcPts val="700"/>
              </a:spcBef>
              <a:spcAft>
                <a:spcPts val="500"/>
              </a:spcAft>
              <a:buNone/>
            </a:pPr>
            <a:r>
              <a:rPr sz="1900" b="1" i="0">
                <a:solidFill>
                  <a:srgbClr val="9E3A24"/>
                </a:solidFill>
              </a:rPr>
              <a:t>What CryptoDrishti does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sz="1500" b="0" i="0">
                <a:solidFill>
                  <a:srgbClr val="3E3E44"/>
                </a:solidFill>
              </a:rPr>
              <a:t>CryptoDrishti discovers cryptographic evidence across those surfaces, normalises it into one inventory, assesses each asset's quantum exposure, and produces evidence-backed migration recommendations and a CycloneDX Cryptography Bill of Materials.</a:t>
            </a:r>
          </a:p>
          <a:p>
            <a:pPr marL="0" indent="0">
              <a:spcBef>
                <a:spcPts val="700"/>
              </a:spcBef>
              <a:spcAft>
                <a:spcPts val="500"/>
              </a:spcAft>
              <a:buNone/>
            </a:pPr>
            <a:r>
              <a:rPr sz="1900" b="1" i="0">
                <a:solidFill>
                  <a:srgbClr val="9E3A24"/>
                </a:solidFill>
              </a:rPr>
              <a:t>Why it is different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3E3E44"/>
                </a:solidFill>
              </a:rPr>
              <a:t>Finding RSA in a library is not observing RSA signing at a call site — capability, declaration, use and observation stay apart.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Zero-Day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cd-diag-eyebrow"/>
          <p:cNvSpPr txBox="1"/>
          <p:nvPr/>
        </p:nvSpPr>
        <p:spPr>
          <a:xfrm>
            <a:off x="5687568" y="1078992"/>
            <a:ext cx="60807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63636B"/>
                </a:solidFill>
              </a:rPr>
              <a:t>WHERE THE EVIDENCE COMES FROM</a:t>
            </a:r>
          </a:p>
        </p:txBody>
      </p:sp>
      <p:sp>
        <p:nvSpPr>
          <p:cNvPr id="15364" name="cd-surface"/>
          <p:cNvSpPr/>
          <p:nvPr/>
        </p:nvSpPr>
        <p:spPr>
          <a:xfrm>
            <a:off x="5687568" y="1353312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Source code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Python AST + rule packs</a:t>
            </a:r>
          </a:p>
        </p:txBody>
      </p:sp>
      <p:sp>
        <p:nvSpPr>
          <p:cNvPr id="15365" name="cd-surface"/>
          <p:cNvSpPr/>
          <p:nvPr/>
        </p:nvSpPr>
        <p:spPr>
          <a:xfrm>
            <a:off x="8828532" y="1353312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Dependencies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13 manifest formats</a:t>
            </a:r>
          </a:p>
        </p:txBody>
      </p:sp>
      <p:sp>
        <p:nvSpPr>
          <p:cNvPr id="15366" name="cd-surface"/>
          <p:cNvSpPr/>
          <p:nvPr/>
        </p:nvSpPr>
        <p:spPr>
          <a:xfrm>
            <a:off x="5687568" y="2002536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Binaries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ELF symbols, constants</a:t>
            </a:r>
          </a:p>
        </p:txBody>
      </p:sp>
      <p:sp>
        <p:nvSpPr>
          <p:cNvPr id="15367" name="cd-surface"/>
          <p:cNvSpPr/>
          <p:nvPr/>
        </p:nvSpPr>
        <p:spPr>
          <a:xfrm>
            <a:off x="8828532" y="2002536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Configuration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nginx · sshd · OpenSSL</a:t>
            </a:r>
          </a:p>
        </p:txBody>
      </p:sp>
      <p:sp>
        <p:nvSpPr>
          <p:cNvPr id="15368" name="cd-surface"/>
          <p:cNvSpPr/>
          <p:nvPr/>
        </p:nvSpPr>
        <p:spPr>
          <a:xfrm>
            <a:off x="5687568" y="2651760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Certificates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X.509 · PEM/DER</a:t>
            </a:r>
          </a:p>
        </p:txBody>
      </p:sp>
      <p:sp>
        <p:nvSpPr>
          <p:cNvPr id="15369" name="cd-surface"/>
          <p:cNvSpPr/>
          <p:nvPr/>
        </p:nvSpPr>
        <p:spPr>
          <a:xfrm>
            <a:off x="8828532" y="2651760"/>
            <a:ext cx="2939796" cy="530352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Containers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OCI · docker save</a:t>
            </a:r>
          </a:p>
        </p:txBody>
      </p:sp>
      <p:sp>
        <p:nvSpPr>
          <p:cNvPr id="15370" name="cd-caret"/>
          <p:cNvSpPr/>
          <p:nvPr/>
        </p:nvSpPr>
        <p:spPr>
          <a:xfrm>
            <a:off x="8645652" y="3236975"/>
            <a:ext cx="118872" cy="136702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cd-band"/>
          <p:cNvSpPr/>
          <p:nvPr/>
        </p:nvSpPr>
        <p:spPr>
          <a:xfrm>
            <a:off x="5687568" y="3474719"/>
            <a:ext cx="6080759" cy="566928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600" b="1" i="0">
                <a:solidFill>
                  <a:srgbClr val="FFFFFF"/>
                </a:solidFill>
              </a:rPr>
              <a:t>CRYPTODRISHTI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D8DEEA"/>
                </a:solidFill>
              </a:rPr>
              <a:t>normalise → correlate → classify → score</a:t>
            </a:r>
          </a:p>
        </p:txBody>
      </p:sp>
      <p:sp>
        <p:nvSpPr>
          <p:cNvPr id="15372" name="cd-caret"/>
          <p:cNvSpPr/>
          <p:nvPr/>
        </p:nvSpPr>
        <p:spPr>
          <a:xfrm>
            <a:off x="8645652" y="4114800"/>
            <a:ext cx="118872" cy="136702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cd-out"/>
          <p:cNvSpPr/>
          <p:nvPr/>
        </p:nvSpPr>
        <p:spPr>
          <a:xfrm>
            <a:off x="5687568" y="4352544"/>
            <a:ext cx="1396745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B3A6B"/>
                </a:solidFill>
              </a:rPr>
              <a:t>INVENTORY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distinct assets</a:t>
            </a:r>
          </a:p>
        </p:txBody>
      </p:sp>
      <p:sp>
        <p:nvSpPr>
          <p:cNvPr id="15374" name="cd-chip-edge"/>
          <p:cNvSpPr/>
          <p:nvPr/>
        </p:nvSpPr>
        <p:spPr>
          <a:xfrm>
            <a:off x="5687568" y="43525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cd-out"/>
          <p:cNvSpPr/>
          <p:nvPr/>
        </p:nvSpPr>
        <p:spPr>
          <a:xfrm>
            <a:off x="7248905" y="4352544"/>
            <a:ext cx="1396745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B3A6B"/>
                </a:solidFill>
              </a:rPr>
              <a:t>RISK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Mosca exposure</a:t>
            </a:r>
          </a:p>
        </p:txBody>
      </p:sp>
      <p:sp>
        <p:nvSpPr>
          <p:cNvPr id="15376" name="cd-chip-edge"/>
          <p:cNvSpPr/>
          <p:nvPr/>
        </p:nvSpPr>
        <p:spPr>
          <a:xfrm>
            <a:off x="7248905" y="43525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cd-out"/>
          <p:cNvSpPr/>
          <p:nvPr/>
        </p:nvSpPr>
        <p:spPr>
          <a:xfrm>
            <a:off x="8810244" y="4352544"/>
            <a:ext cx="1396745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B3A6B"/>
                </a:solidFill>
              </a:rPr>
              <a:t>MIGRATION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named target</a:t>
            </a:r>
          </a:p>
        </p:txBody>
      </p:sp>
      <p:sp>
        <p:nvSpPr>
          <p:cNvPr id="15378" name="cd-chip-edge"/>
          <p:cNvSpPr/>
          <p:nvPr/>
        </p:nvSpPr>
        <p:spPr>
          <a:xfrm>
            <a:off x="8810244" y="43525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cd-out"/>
          <p:cNvSpPr/>
          <p:nvPr/>
        </p:nvSpPr>
        <p:spPr>
          <a:xfrm>
            <a:off x="10371582" y="4352544"/>
            <a:ext cx="1396745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B3A6B"/>
                </a:solidFill>
              </a:rPr>
              <a:t>CBOM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CycloneDX 1.6/1.7</a:t>
            </a:r>
          </a:p>
        </p:txBody>
      </p:sp>
      <p:sp>
        <p:nvSpPr>
          <p:cNvPr id="15380" name="cd-chip-edge"/>
          <p:cNvSpPr/>
          <p:nvPr/>
        </p:nvSpPr>
        <p:spPr>
          <a:xfrm>
            <a:off x="10371582" y="43525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cd-tls-note"/>
          <p:cNvSpPr txBox="1"/>
          <p:nvPr/>
        </p:nvSpPr>
        <p:spPr>
          <a:xfrm>
            <a:off x="5687568" y="5010912"/>
            <a:ext cx="608075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3636B"/>
                </a:solidFill>
              </a:rPr>
              <a:t>A seventh sensor completes a live TLS handshake — only against an endpoint the operator names, and only after the destination policy vets every resolved address.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cd-body"/>
          <p:cNvSpPr txBox="1">
            <a:spLocks noChangeArrowheads="1"/>
          </p:cNvSpPr>
          <p:nvPr/>
        </p:nvSpPr>
        <p:spPr bwMode="auto">
          <a:xfrm>
            <a:off x="420624" y="1097280"/>
            <a:ext cx="3767328" cy="310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0"/>
              </a:spcBef>
              <a:spcAft>
                <a:spcPts val="500"/>
              </a:spcAft>
              <a:buNone/>
            </a:pPr>
            <a:r>
              <a:rPr sz="1700" b="1" i="0">
                <a:solidFill>
                  <a:srgbClr val="9E3A24"/>
                </a:solidFill>
              </a:rPr>
              <a:t>How a finding is processed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Zero-Day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cd-step"/>
          <p:cNvSpPr/>
          <p:nvPr/>
        </p:nvSpPr>
        <p:spPr>
          <a:xfrm>
            <a:off x="420624" y="1481328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Scanner evidence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file, line, symbol, technique, confidence</a:t>
            </a:r>
          </a:p>
        </p:txBody>
      </p:sp>
      <p:sp>
        <p:nvSpPr>
          <p:cNvPr id="17412" name="cd-chip-edge"/>
          <p:cNvSpPr/>
          <p:nvPr/>
        </p:nvSpPr>
        <p:spPr>
          <a:xfrm>
            <a:off x="420624" y="1481328"/>
            <a:ext cx="4064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cd-caret"/>
          <p:cNvSpPr/>
          <p:nvPr/>
        </p:nvSpPr>
        <p:spPr>
          <a:xfrm>
            <a:off x="2253996" y="1967788"/>
            <a:ext cx="100584" cy="115671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cd-step"/>
          <p:cNvSpPr/>
          <p:nvPr/>
        </p:nvSpPr>
        <p:spPr>
          <a:xfrm>
            <a:off x="420624" y="2093976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Normalisation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hits become one distinct asset</a:t>
            </a:r>
          </a:p>
        </p:txBody>
      </p:sp>
      <p:sp>
        <p:nvSpPr>
          <p:cNvPr id="17415" name="cd-chip-edge"/>
          <p:cNvSpPr/>
          <p:nvPr/>
        </p:nvSpPr>
        <p:spPr>
          <a:xfrm>
            <a:off x="420624" y="2093976"/>
            <a:ext cx="4064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cd-caret"/>
          <p:cNvSpPr/>
          <p:nvPr/>
        </p:nvSpPr>
        <p:spPr>
          <a:xfrm>
            <a:off x="2253996" y="2580436"/>
            <a:ext cx="100584" cy="115671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cd-step"/>
          <p:cNvSpPr/>
          <p:nvPr/>
        </p:nvSpPr>
        <p:spPr>
          <a:xfrm>
            <a:off x="420624" y="2706624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Purpose + assurance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what it is for; how strong the proof is</a:t>
            </a:r>
          </a:p>
        </p:txBody>
      </p:sp>
      <p:sp>
        <p:nvSpPr>
          <p:cNvPr id="17418" name="cd-chip-edge"/>
          <p:cNvSpPr/>
          <p:nvPr/>
        </p:nvSpPr>
        <p:spPr>
          <a:xfrm>
            <a:off x="420624" y="2706624"/>
            <a:ext cx="4064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cd-caret"/>
          <p:cNvSpPr/>
          <p:nvPr/>
        </p:nvSpPr>
        <p:spPr>
          <a:xfrm>
            <a:off x="2253996" y="3193084"/>
            <a:ext cx="100584" cy="115671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cd-step"/>
          <p:cNvSpPr/>
          <p:nvPr/>
        </p:nvSpPr>
        <p:spPr>
          <a:xfrm>
            <a:off x="420624" y="3319272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Risk assessment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Mosca X + Y &gt; Z, per purpose</a:t>
            </a:r>
          </a:p>
        </p:txBody>
      </p:sp>
      <p:sp>
        <p:nvSpPr>
          <p:cNvPr id="17421" name="cd-chip-edge"/>
          <p:cNvSpPr/>
          <p:nvPr/>
        </p:nvSpPr>
        <p:spPr>
          <a:xfrm>
            <a:off x="420624" y="3319272"/>
            <a:ext cx="4064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cd-caret"/>
          <p:cNvSpPr/>
          <p:nvPr/>
        </p:nvSpPr>
        <p:spPr>
          <a:xfrm>
            <a:off x="2253996" y="3805732"/>
            <a:ext cx="100584" cy="115671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cd-step"/>
          <p:cNvSpPr/>
          <p:nvPr/>
        </p:nvSpPr>
        <p:spPr>
          <a:xfrm>
            <a:off x="420624" y="3931920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Migration decision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a named target — or none</a:t>
            </a:r>
          </a:p>
        </p:txBody>
      </p:sp>
      <p:sp>
        <p:nvSpPr>
          <p:cNvPr id="17424" name="cd-chip-edge"/>
          <p:cNvSpPr/>
          <p:nvPr/>
        </p:nvSpPr>
        <p:spPr>
          <a:xfrm>
            <a:off x="420624" y="3931920"/>
            <a:ext cx="4064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cd-caret"/>
          <p:cNvSpPr/>
          <p:nvPr/>
        </p:nvSpPr>
        <p:spPr>
          <a:xfrm>
            <a:off x="2253996" y="4418380"/>
            <a:ext cx="100584" cy="115671"/>
          </a:xfrm>
          <a:prstGeom prst="downArrow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cd-step"/>
          <p:cNvSpPr/>
          <p:nvPr/>
        </p:nvSpPr>
        <p:spPr>
          <a:xfrm>
            <a:off x="420624" y="4544568"/>
            <a:ext cx="3767328" cy="47548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A1A1C"/>
                </a:solidFill>
              </a:rPr>
              <a:t>CBOM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CycloneDX, schema-validated</a:t>
            </a:r>
          </a:p>
        </p:txBody>
      </p:sp>
      <p:sp>
        <p:nvSpPr>
          <p:cNvPr id="17427" name="cd-chip-edge"/>
          <p:cNvSpPr/>
          <p:nvPr/>
        </p:nvSpPr>
        <p:spPr>
          <a:xfrm>
            <a:off x="420624" y="4544568"/>
            <a:ext cx="40640" cy="47548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cd-rsa-eyebrow"/>
          <p:cNvSpPr txBox="1"/>
          <p:nvPr/>
        </p:nvSpPr>
        <p:spPr>
          <a:xfrm>
            <a:off x="4498848" y="1078992"/>
            <a:ext cx="72694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63636B"/>
                </a:solidFill>
              </a:rPr>
              <a:t>ONE ALGORITHM · THREE PURPOSE STATES · THREE DECISIONS</a:t>
            </a:r>
          </a:p>
        </p:txBody>
      </p:sp>
      <p:sp>
        <p:nvSpPr>
          <p:cNvPr id="17429" name="cd-rsa-lede"/>
          <p:cNvSpPr txBox="1"/>
          <p:nvPr/>
        </p:nvSpPr>
        <p:spPr>
          <a:xfrm>
            <a:off x="4498848" y="1316736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E3E44"/>
                </a:solidFill>
              </a:rPr>
              <a:t>Every scanner can tell you RSA is present. What decides the migration is what it is being used for.</a:t>
            </a:r>
          </a:p>
        </p:txBody>
      </p:sp>
      <p:sp>
        <p:nvSpPr>
          <p:cNvPr id="17430" name="cd-rsa"/>
          <p:cNvSpPr/>
          <p:nvPr/>
        </p:nvSpPr>
        <p:spPr>
          <a:xfrm>
            <a:off x="4498848" y="1810512"/>
            <a:ext cx="7269479" cy="969264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cd-rsa-edge"/>
          <p:cNvSpPr/>
          <p:nvPr/>
        </p:nvSpPr>
        <p:spPr>
          <a:xfrm>
            <a:off x="4498848" y="1810512"/>
            <a:ext cx="43180" cy="969264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cd-rsa-case"/>
          <p:cNvSpPr txBox="1"/>
          <p:nvPr/>
        </p:nvSpPr>
        <p:spPr>
          <a:xfrm>
            <a:off x="4654296" y="1883664"/>
            <a:ext cx="36184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Case 1 — RSA signing</a:t>
            </a:r>
          </a:p>
        </p:txBody>
      </p:sp>
      <p:sp>
        <p:nvSpPr>
          <p:cNvPr id="17433" name="cd-rsa-where"/>
          <p:cNvSpPr txBox="1"/>
          <p:nvPr/>
        </p:nvSpPr>
        <p:spPr>
          <a:xfrm>
            <a:off x="4654296" y="2084831"/>
            <a:ext cx="37576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svc-payments/signing.py:15   ·   source · used</a:t>
            </a:r>
          </a:p>
        </p:txBody>
      </p:sp>
      <p:sp>
        <p:nvSpPr>
          <p:cNvPr id="17434" name="cd-rsa-purpose"/>
          <p:cNvSpPr txBox="1"/>
          <p:nvPr/>
        </p:nvSpPr>
        <p:spPr>
          <a:xfrm>
            <a:off x="4654296" y="2377440"/>
            <a:ext cx="34792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9E3A24"/>
                </a:solidFill>
              </a:rPr>
              <a:t>RSA-PSS padding signs</a:t>
            </a:r>
          </a:p>
        </p:txBody>
      </p:sp>
      <p:sp>
        <p:nvSpPr>
          <p:cNvPr id="17435" name="cd-rsa-target"/>
          <p:cNvSpPr/>
          <p:nvPr/>
        </p:nvSpPr>
        <p:spPr>
          <a:xfrm>
            <a:off x="8551103" y="2322576"/>
            <a:ext cx="3061776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4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44C39"/>
                </a:solidFill>
              </a:rPr>
              <a:t>ML-DSA-65</a:t>
            </a:r>
          </a:p>
        </p:txBody>
      </p:sp>
      <p:sp>
        <p:nvSpPr>
          <p:cNvPr id="17436" name="cd-rsa"/>
          <p:cNvSpPr/>
          <p:nvPr/>
        </p:nvSpPr>
        <p:spPr>
          <a:xfrm>
            <a:off x="4498848" y="2916936"/>
            <a:ext cx="7269479" cy="969264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cd-rsa-edge"/>
          <p:cNvSpPr/>
          <p:nvPr/>
        </p:nvSpPr>
        <p:spPr>
          <a:xfrm>
            <a:off x="4498848" y="2916936"/>
            <a:ext cx="43180" cy="969264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cd-rsa-case"/>
          <p:cNvSpPr txBox="1"/>
          <p:nvPr/>
        </p:nvSpPr>
        <p:spPr>
          <a:xfrm>
            <a:off x="4654296" y="2990088"/>
            <a:ext cx="36184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Case 2 — RSA key establishment</a:t>
            </a:r>
          </a:p>
        </p:txBody>
      </p:sp>
      <p:sp>
        <p:nvSpPr>
          <p:cNvPr id="17439" name="cd-rsa-where"/>
          <p:cNvSpPr txBox="1"/>
          <p:nvPr/>
        </p:nvSpPr>
        <p:spPr>
          <a:xfrm>
            <a:off x="4654296" y="3191256"/>
            <a:ext cx="37576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svc-gateway/transport.py:16   ·   source · used</a:t>
            </a:r>
          </a:p>
        </p:txBody>
      </p:sp>
      <p:sp>
        <p:nvSpPr>
          <p:cNvPr id="17440" name="cd-rsa-purpose"/>
          <p:cNvSpPr txBox="1"/>
          <p:nvPr/>
        </p:nvSpPr>
        <p:spPr>
          <a:xfrm>
            <a:off x="4654296" y="3483864"/>
            <a:ext cx="34792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9E3A24"/>
                </a:solidFill>
              </a:rPr>
              <a:t>RSA-OAEP padding wraps a key</a:t>
            </a:r>
          </a:p>
        </p:txBody>
      </p:sp>
      <p:sp>
        <p:nvSpPr>
          <p:cNvPr id="17441" name="cd-rsa-target"/>
          <p:cNvSpPr/>
          <p:nvPr/>
        </p:nvSpPr>
        <p:spPr>
          <a:xfrm>
            <a:off x="8551103" y="3429000"/>
            <a:ext cx="3061776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4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44C39"/>
                </a:solidFill>
              </a:rPr>
              <a:t>X25519MLKEM768</a:t>
            </a:r>
          </a:p>
        </p:txBody>
      </p:sp>
      <p:sp>
        <p:nvSpPr>
          <p:cNvPr id="17442" name="cd-rsa"/>
          <p:cNvSpPr/>
          <p:nvPr/>
        </p:nvSpPr>
        <p:spPr>
          <a:xfrm>
            <a:off x="4498848" y="4023360"/>
            <a:ext cx="7269479" cy="969264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cd-rsa-edge"/>
          <p:cNvSpPr/>
          <p:nvPr/>
        </p:nvSpPr>
        <p:spPr>
          <a:xfrm>
            <a:off x="4498848" y="4023360"/>
            <a:ext cx="43180" cy="969264"/>
          </a:xfrm>
          <a:prstGeom prst="rect">
            <a:avLst/>
          </a:prstGeom>
          <a:solidFill>
            <a:srgbClr val="63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cd-rsa-case"/>
          <p:cNvSpPr txBox="1"/>
          <p:nvPr/>
        </p:nvSpPr>
        <p:spPr>
          <a:xfrm>
            <a:off x="4654296" y="4096512"/>
            <a:ext cx="36184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>Case 3 — RSA, unresolved</a:t>
            </a:r>
          </a:p>
        </p:txBody>
      </p:sp>
      <p:sp>
        <p:nvSpPr>
          <p:cNvPr id="17445" name="cd-rsa-where"/>
          <p:cNvSpPr txBox="1"/>
          <p:nvPr/>
        </p:nvSpPr>
        <p:spPr>
          <a:xfrm>
            <a:off x="4654296" y="4297680"/>
            <a:ext cx="37576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legacy/nginx.conf:5   ·   config · declared</a:t>
            </a:r>
          </a:p>
        </p:txBody>
      </p:sp>
      <p:sp>
        <p:nvSpPr>
          <p:cNvPr id="17446" name="cd-rsa-purpose"/>
          <p:cNvSpPr txBox="1"/>
          <p:nvPr/>
        </p:nvSpPr>
        <p:spPr>
          <a:xfrm>
            <a:off x="4654296" y="4590288"/>
            <a:ext cx="34792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63636B"/>
                </a:solidFill>
              </a:rPr>
              <a:t>a cipher list permits RSA, purpose unstated</a:t>
            </a:r>
          </a:p>
        </p:txBody>
      </p:sp>
      <p:sp>
        <p:nvSpPr>
          <p:cNvPr id="17447" name="cd-rsa-target"/>
          <p:cNvSpPr/>
          <p:nvPr/>
        </p:nvSpPr>
        <p:spPr>
          <a:xfrm>
            <a:off x="8551103" y="4535424"/>
            <a:ext cx="3061776" cy="384048"/>
          </a:xfrm>
          <a:prstGeom prst="roundRect">
            <a:avLst>
              <a:gd name="adj" fmla="val 14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63636B"/>
                </a:solidFill>
              </a:rPr>
              <a:t>Purpose must be resolved first</a:t>
            </a:r>
          </a:p>
        </p:txBody>
      </p:sp>
      <p:sp>
        <p:nvSpPr>
          <p:cNvPr id="17448" name="cd-stack-eyebrow"/>
          <p:cNvSpPr txBox="1"/>
          <p:nvPr/>
        </p:nvSpPr>
        <p:spPr>
          <a:xfrm>
            <a:off x="420624" y="5303520"/>
            <a:ext cx="1134770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63636B"/>
                </a:solidFill>
              </a:rPr>
              <a:t>BUILT WITH</a:t>
            </a:r>
          </a:p>
        </p:txBody>
      </p:sp>
      <p:sp>
        <p:nvSpPr>
          <p:cNvPr id="17449" name="cd-stack"/>
          <p:cNvSpPr/>
          <p:nvPr/>
        </p:nvSpPr>
        <p:spPr>
          <a:xfrm>
            <a:off x="420624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Python 3.11+ · FastAPI</a:t>
            </a:r>
          </a:p>
        </p:txBody>
      </p:sp>
      <p:sp>
        <p:nvSpPr>
          <p:cNvPr id="17450" name="cd-stack"/>
          <p:cNvSpPr/>
          <p:nvPr/>
        </p:nvSpPr>
        <p:spPr>
          <a:xfrm>
            <a:off x="2333243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SQLite (WAL)</a:t>
            </a:r>
          </a:p>
        </p:txBody>
      </p:sp>
      <p:sp>
        <p:nvSpPr>
          <p:cNvPr id="17451" name="cd-stack"/>
          <p:cNvSpPr/>
          <p:nvPr/>
        </p:nvSpPr>
        <p:spPr>
          <a:xfrm>
            <a:off x="4245863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Vanilla JS console</a:t>
            </a:r>
          </a:p>
        </p:txBody>
      </p:sp>
      <p:sp>
        <p:nvSpPr>
          <p:cNvPr id="17452" name="cd-stack"/>
          <p:cNvSpPr/>
          <p:nvPr/>
        </p:nvSpPr>
        <p:spPr>
          <a:xfrm>
            <a:off x="6158483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60 rules · 8 languages</a:t>
            </a:r>
          </a:p>
        </p:txBody>
      </p:sp>
      <p:sp>
        <p:nvSpPr>
          <p:cNvPr id="17453" name="cd-stack"/>
          <p:cNvSpPr/>
          <p:nvPr/>
        </p:nvSpPr>
        <p:spPr>
          <a:xfrm>
            <a:off x="8071104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ELF symbol parsing</a:t>
            </a:r>
          </a:p>
        </p:txBody>
      </p:sp>
      <p:sp>
        <p:nvSpPr>
          <p:cNvPr id="17454" name="cd-stack"/>
          <p:cNvSpPr/>
          <p:nvPr/>
        </p:nvSpPr>
        <p:spPr>
          <a:xfrm>
            <a:off x="9983724" y="5541264"/>
            <a:ext cx="1784603" cy="365760"/>
          </a:xfrm>
          <a:prstGeom prst="roundRect">
            <a:avLst>
              <a:gd name="adj" fmla="val 9000"/>
            </a:avLst>
          </a:prstGeom>
          <a:solidFill>
            <a:srgbClr val="ECE9E3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3E3E44"/>
                </a:solidFill>
              </a:rPr>
              <a:t>CycloneDX 1.6 / 1.7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cd-body"/>
          <p:cNvSpPr txBox="1">
            <a:spLocks noChangeArrowheads="1"/>
          </p:cNvSpPr>
          <p:nvPr/>
        </p:nvSpPr>
        <p:spPr bwMode="auto">
          <a:xfrm>
            <a:off x="420624" y="1097280"/>
            <a:ext cx="5413248" cy="453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r>
              <a:rPr sz="1800" b="1" i="0">
                <a:solidFill>
                  <a:srgbClr val="9E3A24"/>
                </a:solidFill>
              </a:rPr>
              <a:t>Implemented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0" i="0">
                <a:solidFill>
                  <a:srgbClr val="3E3E44"/>
                </a:solidFill>
              </a:rPr>
              <a:t>Seven scanning surfaces, each returning evidence with a location, a technique and a confidence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0" i="0">
                <a:solidFill>
                  <a:srgbClr val="3E3E44"/>
                </a:solidFill>
              </a:rPr>
              <a:t>An inventory of distinct assets, carrying purpose and assurance on every one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0" i="0">
                <a:solidFill>
                  <a:srgbClr val="3E3E44"/>
                </a:solidFill>
              </a:rPr>
              <a:t>A quantum-risk model taking operator-supplied shelf life, criticality and constraints, saved per asset and surviving a rescan</a:t>
            </a:r>
          </a:p>
          <a:p>
            <a:pPr marL="0" indent="0">
              <a:spcBef>
                <a:spcPts val="800"/>
              </a:spcBef>
              <a:spcAft>
                <a:spcPts val="500"/>
              </a:spcAft>
              <a:buNone/>
            </a:pPr>
            <a:r>
              <a:rPr sz="1800" b="1" i="0">
                <a:solidFill>
                  <a:srgbClr val="9E3A24"/>
                </a:solidFill>
              </a:rPr>
              <a:t>Validated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1" i="0">
                <a:solidFill>
                  <a:srgbClr val="1A1A1C"/>
                </a:solidFill>
              </a:rPr>
              <a:t>664 automated tests — </a:t>
            </a:r>
            <a:r>
              <a:rPr sz="1400" b="0" i="0">
                <a:solidFill>
                  <a:srgbClr val="3E3E44"/>
                </a:solidFill>
              </a:rPr>
              <a:t>on Python 3.11, 3.12 and 3.13 in CI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1" i="0">
                <a:solidFill>
                  <a:srgbClr val="1A1A1C"/>
                </a:solidFill>
              </a:rPr>
              <a:t>Official schema validation — </a:t>
            </a:r>
            <a:r>
              <a:rPr sz="1400" b="0" i="0">
                <a:solidFill>
                  <a:srgbClr val="3E3E44"/>
                </a:solidFill>
              </a:rPr>
              <a:t>every CBOM checked offline against the CycloneDX schemas at pinned commit 0bd48c8; CI fails on a violation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400" b="1" i="0">
                <a:solidFill>
                  <a:srgbClr val="1A1A1C"/>
                </a:solidFill>
              </a:rPr>
              <a:t>Hand-labelled benchmark — </a:t>
            </a:r>
            <a:r>
              <a:rPr sz="1400" b="0" i="0">
                <a:solidFill>
                  <a:srgbClr val="3E3E44"/>
                </a:solidFill>
              </a:rPr>
              <a:t>116 findings over six scanners, labelled from the fixtures, not from the tool's output</a:t>
            </a:r>
          </a:p>
          <a:p>
            <a:pPr marL="0" indent="0">
              <a:spcBef>
                <a:spcPts val="800"/>
              </a:spcBef>
              <a:spcAft>
                <a:spcPts val="500"/>
              </a:spcAft>
              <a:buNone/>
            </a:pPr>
            <a:r>
              <a:rPr sz="1800" b="1" i="0">
                <a:solidFill>
                  <a:srgbClr val="9E3A24"/>
                </a:solidFill>
              </a:rPr>
              <a:t>Feasible to deploy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3E3E44"/>
                </a:solidFill>
              </a:rPr>
              <a:t>The tool is local-first: one machine, loopback by default, no cloud service, and it validates its own output offline. Committed demo fixtures reproduce every figure in this deck with one command.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Zero-Day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cd-limits"/>
          <p:cNvSpPr txBox="1"/>
          <p:nvPr/>
        </p:nvSpPr>
        <p:spPr>
          <a:xfrm>
            <a:off x="420624" y="5724144"/>
            <a:ext cx="54132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3636B"/>
                </a:solidFill>
              </a:rPr>
              <a:t>Limits — Full AST analysis is Python only; seven further languages use rule packs, and Rust and Swift are recognised but effectively uncovered. Binary parsing is ELF only. No KMS, HSM, cloud or Kubernetes integration. A working prototype, not a deployed product.</a:t>
            </a:r>
          </a:p>
        </p:txBody>
      </p:sp>
      <p:pic>
        <p:nvPicPr>
          <p:cNvPr id="17412" name="cd-shot-01-assessment-0.31" descr="01-assessment-0.316-0.112-0.990-0.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97280"/>
            <a:ext cx="5641847" cy="1860689"/>
          </a:xfrm>
          <a:prstGeom prst="rect">
            <a:avLst/>
          </a:prstGeom>
        </p:spPr>
      </p:pic>
      <p:sp>
        <p:nvSpPr>
          <p:cNvPr id="17413" name="cd-caption"/>
          <p:cNvSpPr txBox="1"/>
          <p:nvPr/>
        </p:nvSpPr>
        <p:spPr>
          <a:xfrm>
            <a:off x="6126480" y="3031121"/>
            <a:ext cx="5641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63636B"/>
                </a:solidFill>
              </a:rPr>
              <a:t>Assessment — the scan states its own completeness first: one endpoint refused, so the inventory is marked PARTIAL.</a:t>
            </a:r>
          </a:p>
        </p:txBody>
      </p:sp>
      <p:pic>
        <p:nvPicPr>
          <p:cNvPr id="17414" name="cd-shot-07-evidence-drawer" descr="07-evidence-drawer-0.020-0.118-0.990-0.3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61473"/>
            <a:ext cx="5641847" cy="2083392"/>
          </a:xfrm>
          <a:prstGeom prst="rect">
            <a:avLst/>
          </a:prstGeom>
        </p:spPr>
      </p:pic>
      <p:sp>
        <p:nvSpPr>
          <p:cNvPr id="17415" name="cd-caption"/>
          <p:cNvSpPr txBox="1"/>
          <p:nvPr/>
        </p:nvSpPr>
        <p:spPr>
          <a:xfrm>
            <a:off x="6126480" y="5718017"/>
            <a:ext cx="5641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63636B"/>
                </a:solidFill>
              </a:rPr>
              <a:t>Evidence drawer — purpose, assurance and the exposure arithmetic behind one finding's score.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cd-body"/>
          <p:cNvSpPr txBox="1">
            <a:spLocks noChangeArrowheads="1"/>
          </p:cNvSpPr>
          <p:nvPr/>
        </p:nvSpPr>
        <p:spPr bwMode="auto">
          <a:xfrm>
            <a:off x="420624" y="1097280"/>
            <a:ext cx="11347703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r>
              <a:rPr sz="1900" b="1" i="0">
                <a:solidFill>
                  <a:srgbClr val="9E3A24"/>
                </a:solidFill>
              </a:rPr>
              <a:t>What a migration team does with the output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Zero-Day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cd-stage"/>
          <p:cNvSpPr/>
          <p:nvPr/>
        </p:nvSpPr>
        <p:spPr>
          <a:xfrm>
            <a:off x="420624" y="1517904"/>
            <a:ext cx="2050084" cy="1316736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1B3A6B"/>
                </a:solidFill>
              </a:rPr>
              <a:t>DISCOVER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Inventory the cryptographic assets that are actually present.</a:t>
            </a:r>
          </a:p>
        </p:txBody>
      </p:sp>
      <p:sp>
        <p:nvSpPr>
          <p:cNvPr id="17412" name="cd-chip-edge"/>
          <p:cNvSpPr/>
          <p:nvPr/>
        </p:nvSpPr>
        <p:spPr>
          <a:xfrm>
            <a:off x="420624" y="1517904"/>
            <a:ext cx="40640" cy="1316736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cd-arrow"/>
          <p:cNvSpPr/>
          <p:nvPr/>
        </p:nvSpPr>
        <p:spPr>
          <a:xfrm>
            <a:off x="2516428" y="2066543"/>
            <a:ext cx="182879" cy="219456"/>
          </a:xfrm>
          <a:prstGeom prst="rightArrow">
            <a:avLst/>
          </a:prstGeom>
          <a:solidFill>
            <a:srgbClr val="D2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cd-stage"/>
          <p:cNvSpPr/>
          <p:nvPr/>
        </p:nvSpPr>
        <p:spPr>
          <a:xfrm>
            <a:off x="2745028" y="1517904"/>
            <a:ext cx="2050084" cy="1316736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1B3A6B"/>
                </a:solidFill>
              </a:rPr>
              <a:t>UNDERSTAND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Algorithm, purpose, evidence strength and exact location.</a:t>
            </a:r>
          </a:p>
        </p:txBody>
      </p:sp>
      <p:sp>
        <p:nvSpPr>
          <p:cNvPr id="17415" name="cd-chip-edge"/>
          <p:cNvSpPr/>
          <p:nvPr/>
        </p:nvSpPr>
        <p:spPr>
          <a:xfrm>
            <a:off x="2745028" y="1517904"/>
            <a:ext cx="40640" cy="1316736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cd-arrow"/>
          <p:cNvSpPr/>
          <p:nvPr/>
        </p:nvSpPr>
        <p:spPr>
          <a:xfrm>
            <a:off x="4840833" y="2066543"/>
            <a:ext cx="182879" cy="219456"/>
          </a:xfrm>
          <a:prstGeom prst="rightArrow">
            <a:avLst/>
          </a:prstGeom>
          <a:solidFill>
            <a:srgbClr val="D2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cd-stage"/>
          <p:cNvSpPr/>
          <p:nvPr/>
        </p:nvSpPr>
        <p:spPr>
          <a:xfrm>
            <a:off x="5069433" y="1517904"/>
            <a:ext cx="2050084" cy="1316736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1B3A6B"/>
                </a:solidFill>
              </a:rPr>
              <a:t>PRIORITISE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Quantum exposure with documented, operator-set assumptions.</a:t>
            </a:r>
          </a:p>
        </p:txBody>
      </p:sp>
      <p:sp>
        <p:nvSpPr>
          <p:cNvPr id="17418" name="cd-chip-edge"/>
          <p:cNvSpPr/>
          <p:nvPr/>
        </p:nvSpPr>
        <p:spPr>
          <a:xfrm>
            <a:off x="5069433" y="1517904"/>
            <a:ext cx="40640" cy="1316736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cd-arrow"/>
          <p:cNvSpPr/>
          <p:nvPr/>
        </p:nvSpPr>
        <p:spPr>
          <a:xfrm>
            <a:off x="7165238" y="2066543"/>
            <a:ext cx="182879" cy="219456"/>
          </a:xfrm>
          <a:prstGeom prst="rightArrow">
            <a:avLst/>
          </a:prstGeom>
          <a:solidFill>
            <a:srgbClr val="D2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cd-stage"/>
          <p:cNvSpPr/>
          <p:nvPr/>
        </p:nvSpPr>
        <p:spPr>
          <a:xfrm>
            <a:off x="7393838" y="1517904"/>
            <a:ext cx="2050084" cy="1316736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1B3A6B"/>
                </a:solidFill>
              </a:rPr>
              <a:t>PLAN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A purpose-matched target — or a request for more evidence.</a:t>
            </a:r>
          </a:p>
        </p:txBody>
      </p:sp>
      <p:sp>
        <p:nvSpPr>
          <p:cNvPr id="17421" name="cd-chip-edge"/>
          <p:cNvSpPr/>
          <p:nvPr/>
        </p:nvSpPr>
        <p:spPr>
          <a:xfrm>
            <a:off x="7393838" y="1517904"/>
            <a:ext cx="40640" cy="1316736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cd-arrow"/>
          <p:cNvSpPr/>
          <p:nvPr/>
        </p:nvSpPr>
        <p:spPr>
          <a:xfrm>
            <a:off x="9489643" y="2066543"/>
            <a:ext cx="182879" cy="219456"/>
          </a:xfrm>
          <a:prstGeom prst="rightArrow">
            <a:avLst/>
          </a:prstGeom>
          <a:solidFill>
            <a:srgbClr val="D2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cd-stage"/>
          <p:cNvSpPr/>
          <p:nvPr/>
        </p:nvSpPr>
        <p:spPr>
          <a:xfrm>
            <a:off x="9718243" y="1517904"/>
            <a:ext cx="2050084" cy="1316736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1B3A6B"/>
                </a:solidFill>
              </a:rPr>
              <a:t>EXPORT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A schema-validated CBOM and a traceable report.</a:t>
            </a:r>
          </a:p>
        </p:txBody>
      </p:sp>
      <p:sp>
        <p:nvSpPr>
          <p:cNvPr id="17424" name="cd-chip-edge"/>
          <p:cNvSpPr/>
          <p:nvPr/>
        </p:nvSpPr>
        <p:spPr>
          <a:xfrm>
            <a:off x="9718243" y="1517904"/>
            <a:ext cx="40640" cy="1316736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cd-users-head"/>
          <p:cNvSpPr txBox="1"/>
          <p:nvPr/>
        </p:nvSpPr>
        <p:spPr>
          <a:xfrm>
            <a:off x="420624" y="309067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9E3A24"/>
                </a:solidFill>
              </a:rPr>
              <a:t>Who this is for</a:t>
            </a:r>
          </a:p>
        </p:txBody>
      </p:sp>
      <p:sp>
        <p:nvSpPr>
          <p:cNvPr id="17426" name="cd-users"/>
          <p:cNvSpPr txBox="1"/>
          <p:nvPr/>
        </p:nvSpPr>
        <p:spPr>
          <a:xfrm>
            <a:off x="420624" y="3383279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3E3E44"/>
                </a:solidFill>
              </a:rPr>
              <a:t>Intended for security engineering teams, cryptographic inventory and migration-planning teams, and infrastructure operators. These are intended users; the tool has not been deployed in production.</a:t>
            </a:r>
          </a:p>
        </p:txBody>
      </p:sp>
      <p:sp>
        <p:nvSpPr>
          <p:cNvPr id="17427" name="cd-changes-head"/>
          <p:cNvSpPr txBox="1"/>
          <p:nvPr/>
        </p:nvSpPr>
        <p:spPr>
          <a:xfrm>
            <a:off x="420624" y="4059935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9E3A24"/>
                </a:solidFill>
              </a:rPr>
              <a:t>What changes for them</a:t>
            </a:r>
          </a:p>
        </p:txBody>
      </p:sp>
      <p:sp>
        <p:nvSpPr>
          <p:cNvPr id="17428" name="cd-changes"/>
          <p:cNvSpPr txBox="1"/>
          <p:nvPr/>
        </p:nvSpPr>
        <p:spPr>
          <a:xfrm>
            <a:off x="420624" y="4370831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050" indent="-14605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3E3E44"/>
                </a:solidFill>
              </a:rPr>
              <a:t>“We think we use RSA somewhere” becomes a per-asset list with file, line, purpose, evidence strength and a named replacement.</a:t>
            </a:r>
          </a:p>
          <a:p>
            <a:pPr marL="146050" indent="-14605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3E3E44"/>
                </a:solidFill>
              </a:rPr>
              <a:t>What an estate runs is separated from what it merely has installed, so the plan is not padded with libraries nobody calls.</a:t>
            </a:r>
          </a:p>
          <a:p>
            <a:pPr marL="146050" indent="-14605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3E3E44"/>
                </a:solidFill>
              </a:rPr>
              <a:t>A partial scan is labelled partial, so nobody signs off an estate on an inventory that silently missed half of it.</a:t>
            </a:r>
          </a:p>
        </p:txBody>
      </p:sp>
      <p:sp>
        <p:nvSpPr>
          <p:cNvPr id="17429" name="cd-bench-head"/>
          <p:cNvSpPr txBox="1"/>
          <p:nvPr/>
        </p:nvSpPr>
        <p:spPr>
          <a:xfrm>
            <a:off x="6492240" y="3090672"/>
            <a:ext cx="5276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9E3A24"/>
                </a:solidFill>
              </a:rPr>
              <a:t>Measured on a labelled corpus</a:t>
            </a:r>
          </a:p>
        </p:txBody>
      </p:sp>
      <p:sp>
        <p:nvSpPr>
          <p:cNvPr id="17430" name="cd-bench-box"/>
          <p:cNvSpPr/>
          <p:nvPr/>
        </p:nvSpPr>
        <p:spPr>
          <a:xfrm>
            <a:off x="6492240" y="3419856"/>
            <a:ext cx="5276088" cy="786384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1A1C"/>
                </a:solidFill>
              </a:rPr>
              <a:t/>
            </a:r>
          </a:p>
        </p:txBody>
      </p:sp>
      <p:sp>
        <p:nvSpPr>
          <p:cNvPr id="17431" name="cd-bench-label"/>
          <p:cNvSpPr txBox="1"/>
          <p:nvPr/>
        </p:nvSpPr>
        <p:spPr>
          <a:xfrm>
            <a:off x="6656831" y="3493008"/>
            <a:ext cx="494690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A1A1C"/>
                </a:solidFill>
              </a:rPr>
              <a:t>Like-for-like, same corpus, before → after</a:t>
            </a:r>
          </a:p>
        </p:txBody>
      </p:sp>
      <p:sp>
        <p:nvSpPr>
          <p:cNvPr id="17432" name="cd-bench-f1"/>
          <p:cNvSpPr txBox="1"/>
          <p:nvPr/>
        </p:nvSpPr>
        <p:spPr>
          <a:xfrm>
            <a:off x="6656831" y="3730752"/>
            <a:ext cx="494690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44C39"/>
                </a:solidFill>
              </a:rPr>
              <a:t>F1  0.941  →  0.983</a:t>
            </a:r>
          </a:p>
        </p:txBody>
      </p:sp>
      <p:sp>
        <p:nvSpPr>
          <p:cNvPr id="17433" name="cd-bench-counts"/>
          <p:cNvSpPr txBox="1"/>
          <p:nvPr/>
        </p:nvSpPr>
        <p:spPr>
          <a:xfrm>
            <a:off x="9144000" y="3767328"/>
            <a:ext cx="244144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3636B"/>
                </a:solidFill>
              </a:rPr>
              <a:t>79/5/5  →  84 TP · 3 FP · 0 FN</a:t>
            </a:r>
          </a:p>
        </p:txBody>
      </p:sp>
      <p:sp>
        <p:nvSpPr>
          <p:cNvPr id="17434" name="cd-bench-caveat"/>
          <p:cNvSpPr txBox="1"/>
          <p:nvPr/>
        </p:nvSpPr>
        <p:spPr>
          <a:xfrm>
            <a:off x="6492240" y="4297680"/>
            <a:ext cx="527608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3636B"/>
                </a:solidFill>
              </a:rPr>
              <a:t>An expanded synthetic corpus of 116 findings across six scanners scores 1.000 — a separate, non-comparable experiment. Both corpora were written by this project's developers and measure those corpora only; real-world enterprise accuracy has not been measured.</a:t>
            </a:r>
          </a:p>
        </p:txBody>
      </p:sp>
      <p:sp>
        <p:nvSpPr>
          <p:cNvPr id="17435" name="cd-plan-caption"/>
          <p:cNvSpPr txBox="1"/>
          <p:nvPr/>
        </p:nvSpPr>
        <p:spPr>
          <a:xfrm>
            <a:off x="6492240" y="4974336"/>
            <a:ext cx="5276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3636B"/>
                </a:solidFill>
              </a:rPr>
              <a:t>Remediation programme — grouped by the replacement each asset needs, which is how the work is staffed.</a:t>
            </a:r>
          </a:p>
        </p:txBody>
      </p:sp>
      <p:pic>
        <p:nvPicPr>
          <p:cNvPr id="17436" name="cd-shot-03-migration-plan-" descr="03-migration-plan-0.055-0.300-1.000-0.5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48656"/>
            <a:ext cx="5276088" cy="90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cd-body"/>
          <p:cNvSpPr txBox="1">
            <a:spLocks noChangeArrowheads="1"/>
          </p:cNvSpPr>
          <p:nvPr/>
        </p:nvSpPr>
        <p:spPr bwMode="auto">
          <a:xfrm>
            <a:off x="420624" y="1097280"/>
            <a:ext cx="5541264" cy="374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r>
              <a:rPr sz="1600" b="1" i="0">
                <a:solidFill>
                  <a:srgbClr val="9E3A24"/>
                </a:solidFill>
              </a:rPr>
              <a:t>Cryptography standards informing classification and migration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FIPS 203 — Module-Lattice-Based Key-Encapsulation Mechanism (ML-KEM). NIST, 2024. doi.org/10.6028/NIST.FIPS.203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FIPS 204 — Module-Lattice-Based Digital Signature Standard (ML-DSA). NIST, 2024. doi.org/10.6028/NIST.FIPS.204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FIPS 205 — Stateless Hash-Based Digital Signature Standard (SLH-DSA). NIST, 2024. doi.org/10.6028/NIST.FIPS.205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NIST IR 8547 (initial public draft) — Transition to Post-Quantum Cryptography Standards. NIST, 2024.</a:t>
            </a:r>
          </a:p>
          <a:p>
            <a:pPr marL="0" indent="0">
              <a:spcBef>
                <a:spcPts val="90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9E3A24"/>
                </a:solidFill>
              </a:rPr>
              <a:t>Problem statement and repository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Smart India Hackathon 2026, Problem Statement SIH26164 — Enterprise Cryptographic Discovery &amp; Analysis Tool (ECDAT), National Technical Research Organisation (NTRO).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Source, 664 tests, the labelled benchmark corpus and its committed results, and the vendored schemas: github.com/sgtsujith141-wq/cryptodrishti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Zero-Day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cd-refs-right"/>
          <p:cNvSpPr txBox="1"/>
          <p:nvPr/>
        </p:nvSpPr>
        <p:spPr>
          <a:xfrm>
            <a:off x="6400800" y="1097280"/>
            <a:ext cx="5367527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9E3A24"/>
                </a:solidFill>
              </a:rPr>
              <a:t>CBOM and container formats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CycloneDX v1.6, standardised as ECMA-424 (1st edition, June 2024) — cyclonedx.org/specification/overview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CycloneDX v1.7 JSON Schema. Both schemas vendored in this repository at pinned commit 0bd48c8 and checksummed.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OCI Image Format Specification — image layout, manifests and layer whiteouts. github.com/opencontainers/image-spec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RFC 8996 — Deprecating TLS 1.0 and TLS 1.1. rfc-editor.org/rfc/rfc8996</a:t>
            </a:r>
          </a:p>
          <a:p>
            <a:pPr marL="0" indent="0">
              <a:spcBef>
                <a:spcPts val="900"/>
              </a:spcBef>
              <a:spcAft>
                <a:spcPts val="500"/>
              </a:spcAft>
              <a:buNone/>
            </a:pPr>
            <a:r>
              <a:rPr sz="1600" b="1" i="0">
                <a:solidFill>
                  <a:srgbClr val="9E3A24"/>
                </a:solidFill>
              </a:rPr>
              <a:t>Risk methodology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M. Mosca, “Cybersecurity in an Era with Quantum Computers: Will We Be Ready?”, IEEE Security &amp; Privacy, vol. 16, no. 5, 2018 — the source of the X + Y &gt; Z inequality used by the risk model.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P. W. Shor, “Polynomial-Time Algorithms for Prime Factorization and Discrete Logarithms on a Quantum Computer”, SIAM J. Computing, 1997.</a:t>
            </a:r>
          </a:p>
          <a:p>
            <a:pPr marL="146050" indent="-14605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300" b="0" i="0">
                <a:solidFill>
                  <a:srgbClr val="3E3E44"/>
                </a:solidFill>
              </a:rPr>
              <a:t>L. K. Grover, “A fast quantum mechanical algorithm for database search”, STOC 1996.</a:t>
            </a:r>
          </a:p>
        </p:txBody>
      </p:sp>
      <p:sp>
        <p:nvSpPr>
          <p:cNvPr id="17412" name="cd-map-eyebrow"/>
          <p:cNvSpPr txBox="1"/>
          <p:nvPr/>
        </p:nvSpPr>
        <p:spPr>
          <a:xfrm>
            <a:off x="420624" y="5029200"/>
            <a:ext cx="1134770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63636B"/>
                </a:solidFill>
              </a:rPr>
              <a:t>WHICH STANDARD GOVERNS WHICH PART OF THE PRODUCT</a:t>
            </a:r>
          </a:p>
        </p:txBody>
      </p:sp>
      <p:sp>
        <p:nvSpPr>
          <p:cNvPr id="17413" name="cd-map"/>
          <p:cNvSpPr/>
          <p:nvPr/>
        </p:nvSpPr>
        <p:spPr>
          <a:xfrm>
            <a:off x="420624" y="5266944"/>
            <a:ext cx="2167127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3A6B"/>
                </a:solidFill>
              </a:rPr>
              <a:t>FIPS 203 / 204 / 205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the migration targets it names</a:t>
            </a:r>
          </a:p>
        </p:txBody>
      </p:sp>
      <p:sp>
        <p:nvSpPr>
          <p:cNvPr id="17414" name="cd-chip-edge"/>
          <p:cNvSpPr/>
          <p:nvPr/>
        </p:nvSpPr>
        <p:spPr>
          <a:xfrm>
            <a:off x="420624" y="52669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cd-map"/>
          <p:cNvSpPr/>
          <p:nvPr/>
        </p:nvSpPr>
        <p:spPr>
          <a:xfrm>
            <a:off x="2715768" y="5266944"/>
            <a:ext cx="2167127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3A6B"/>
                </a:solidFill>
              </a:rPr>
              <a:t>NIST IR 8547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how it classifies what is at risk</a:t>
            </a:r>
          </a:p>
        </p:txBody>
      </p:sp>
      <p:sp>
        <p:nvSpPr>
          <p:cNvPr id="17416" name="cd-chip-edge"/>
          <p:cNvSpPr/>
          <p:nvPr/>
        </p:nvSpPr>
        <p:spPr>
          <a:xfrm>
            <a:off x="2715768" y="52669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cd-map"/>
          <p:cNvSpPr/>
          <p:nvPr/>
        </p:nvSpPr>
        <p:spPr>
          <a:xfrm>
            <a:off x="5010912" y="5266944"/>
            <a:ext cx="2167127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3A6B"/>
                </a:solidFill>
              </a:rPr>
              <a:t>CycloneDX 1.6 / 1.7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the CBOM it exports and validates</a:t>
            </a:r>
          </a:p>
        </p:txBody>
      </p:sp>
      <p:sp>
        <p:nvSpPr>
          <p:cNvPr id="17418" name="cd-chip-edge"/>
          <p:cNvSpPr/>
          <p:nvPr/>
        </p:nvSpPr>
        <p:spPr>
          <a:xfrm>
            <a:off x="5010912" y="52669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cd-map"/>
          <p:cNvSpPr/>
          <p:nvPr/>
        </p:nvSpPr>
        <p:spPr>
          <a:xfrm>
            <a:off x="7306055" y="5266944"/>
            <a:ext cx="2167127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3A6B"/>
                </a:solidFill>
              </a:rPr>
              <a:t>OCI image spec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how it reads container layers</a:t>
            </a:r>
          </a:p>
        </p:txBody>
      </p:sp>
      <p:sp>
        <p:nvSpPr>
          <p:cNvPr id="17420" name="cd-chip-edge"/>
          <p:cNvSpPr/>
          <p:nvPr/>
        </p:nvSpPr>
        <p:spPr>
          <a:xfrm>
            <a:off x="7306055" y="52669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cd-map"/>
          <p:cNvSpPr/>
          <p:nvPr/>
        </p:nvSpPr>
        <p:spPr>
          <a:xfrm>
            <a:off x="9601200" y="5266944"/>
            <a:ext cx="2167127" cy="566928"/>
          </a:xfrm>
          <a:prstGeom prst="roundRect">
            <a:avLst>
              <a:gd name="adj" fmla="val 9000"/>
            </a:avLst>
          </a:prstGeom>
          <a:solidFill>
            <a:srgbClr val="F5F3EF"/>
          </a:solidFill>
          <a:ln w="9525">
            <a:solidFill>
              <a:srgbClr val="D2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3A6B"/>
                </a:solidFill>
              </a:rPr>
              <a:t>Mosca X + Y &gt; Z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3636B"/>
                </a:solidFill>
              </a:rPr>
              <a:t>how it scores exposure</a:t>
            </a:r>
          </a:p>
        </p:txBody>
      </p:sp>
      <p:sp>
        <p:nvSpPr>
          <p:cNvPr id="17422" name="cd-chip-edge"/>
          <p:cNvSpPr/>
          <p:nvPr/>
        </p:nvSpPr>
        <p:spPr>
          <a:xfrm>
            <a:off x="9601200" y="5266944"/>
            <a:ext cx="40640" cy="566928"/>
          </a:xfrm>
          <a:prstGeom prst="rect">
            <a:avLst/>
          </a:prstGeom>
          <a:solidFill>
            <a:srgbClr val="9E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cd-ref-note"/>
          <p:cNvSpPr txBox="1"/>
          <p:nvPr/>
        </p:nvSpPr>
        <p:spPr>
          <a:xfrm>
            <a:off x="420624" y="5925312"/>
            <a:ext cx="1134770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3636B"/>
                </a:solidFill>
              </a:rPr>
              <a:t>Scope — CryptoDrishti discovers, classifies, assesses and recommends cryptography. It does not implement the post-quantum primitives above; it uses them as the standards that inform classification and migration targets.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