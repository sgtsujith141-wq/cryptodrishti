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411480" y="1975104"/>
            <a:ext cx="5715000" cy="3246120"/>
          </a:xfrm>
          <a:prstGeom prst="rect">
            <a:avLst/>
          </a:prstGeom>
          <a:noFill/>
        </p:spPr>
        <p:txBody>
          <a:bodyPr wrap="square" rtlCol="0">
            <a:spAutoFit/>
          </a:bodyPr>
          <a:lstStyle/>
          <a:p>
            <a:pPr marL="0" indent="0">
              <a:spcBef>
                <a:spcPts val="0"/>
              </a:spcBef>
              <a:spcAft>
                <a:spcPts val="900"/>
              </a:spcAft>
              <a:buNone/>
            </a:pPr>
            <a:r>
              <a:rPr sz="1500" b="1">
                <a:solidFill>
                  <a:srgbClr val="0F172A"/>
                </a:solidFill>
              </a:rPr>
              <a:t>Problem Statement ID – SIH26164</a:t>
            </a:r>
            <a:endParaRPr lang="en-US" dirty="0"/>
          </a:p>
          <a:p>
            <a:pPr marL="0" indent="0">
              <a:spcBef>
                <a:spcPts val="0"/>
              </a:spcBef>
              <a:spcAft>
                <a:spcPts val="900"/>
              </a:spcAft>
              <a:buNone/>
            </a:pPr>
            <a:r>
              <a:rPr sz="1500">
                <a:solidFill>
                  <a:srgbClr val="1A1A1A"/>
                </a:solidFill>
              </a:rPr>
              <a:t>Problem Statement Title – Enterprise Cryptographic Discovery &amp; Analysis Tool (ECDAT)</a:t>
            </a:r>
          </a:p>
          <a:p>
            <a:pPr marL="0" indent="0">
              <a:spcBef>
                <a:spcPts val="0"/>
              </a:spcBef>
              <a:spcAft>
                <a:spcPts val="900"/>
              </a:spcAft>
              <a:buNone/>
            </a:pPr>
            <a:r>
              <a:rPr sz="1500">
                <a:solidFill>
                  <a:srgbClr val="1A1A1A"/>
                </a:solidFill>
              </a:rPr>
              <a:t>Theme – 26164</a:t>
            </a:r>
          </a:p>
          <a:p>
            <a:pPr marL="0" indent="0">
              <a:spcBef>
                <a:spcPts val="0"/>
              </a:spcBef>
              <a:spcAft>
                <a:spcPts val="900"/>
              </a:spcAft>
              <a:buNone/>
            </a:pPr>
            <a:r>
              <a:rPr sz="1500">
                <a:solidFill>
                  <a:srgbClr val="1A1A1A"/>
                </a:solidFill>
              </a:rPr>
              <a:t>PS Category – Software</a:t>
            </a:r>
          </a:p>
          <a:p>
            <a:pPr marL="0" indent="0">
              <a:spcBef>
                <a:spcPts val="0"/>
              </a:spcBef>
              <a:spcAft>
                <a:spcPts val="900"/>
              </a:spcAft>
              <a:buNone/>
            </a:pPr>
            <a:r>
              <a:rPr sz="1500">
                <a:solidFill>
                  <a:srgbClr val="1A1A1A"/>
                </a:solidFill>
              </a:rPr>
              <a:t>Team ID – 146876</a:t>
            </a:r>
          </a:p>
          <a:p>
            <a:pPr marL="0" indent="0">
              <a:spcBef>
                <a:spcPts val="0"/>
              </a:spcBef>
              <a:spcAft>
                <a:spcPts val="900"/>
              </a:spcAft>
              <a:buNone/>
            </a:pPr>
            <a:r>
              <a:rPr sz="1500">
                <a:solidFill>
                  <a:srgbClr val="1A1A1A"/>
                </a:solidFill>
              </a:rPr>
              <a:t>Team Name – Zero-Day</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cd-note"/>
          <p:cNvSpPr txBox="1"/>
          <p:nvPr/>
        </p:nvSpPr>
        <p:spPr>
          <a:xfrm>
            <a:off x="411480" y="5376672"/>
            <a:ext cx="5715000" cy="914400"/>
          </a:xfrm>
          <a:prstGeom prst="rect">
            <a:avLst/>
          </a:prstGeom>
          <a:noFill/>
        </p:spPr>
        <p:txBody>
          <a:bodyPr wrap="square">
            <a:spAutoFit/>
          </a:bodyPr>
          <a:lstStyle/>
          <a:p>
            <a:pPr marL="0" indent="0">
              <a:spcBef>
                <a:spcPts val="0"/>
              </a:spcBef>
              <a:spcAft>
                <a:spcPts val="200"/>
              </a:spcAft>
              <a:buNone/>
            </a:pPr>
            <a:r>
              <a:rPr sz="1500" b="1">
                <a:solidFill>
                  <a:srgbClr val="8C1D1D"/>
                </a:solidFill>
              </a:rPr>
              <a:t>CryptoDrishti</a:t>
            </a:r>
          </a:p>
          <a:p>
            <a:pPr marL="0" indent="0">
              <a:spcBef>
                <a:spcPts val="0"/>
              </a:spcBef>
              <a:spcAft>
                <a:spcPts val="200"/>
              </a:spcAft>
              <a:buNone/>
            </a:pPr>
            <a:r>
              <a:rPr sz="1200">
                <a:solidFill>
                  <a:srgbClr val="1A1A1A"/>
                </a:solidFill>
              </a:rPr>
              <a:t>Find every cryptographic asset an organisation owns, prove what the evidence actually supports, and say what each one must become.</a:t>
            </a:r>
          </a:p>
          <a:p>
            <a:pPr marL="0" indent="0">
              <a:spcBef>
                <a:spcPts val="0"/>
              </a:spcBef>
              <a:spcAft>
                <a:spcPts val="200"/>
              </a:spcAft>
              <a:buNone/>
            </a:pPr>
            <a:r>
              <a:rPr sz="1100" i="1">
                <a:solidFill>
                  <a:srgbClr val="5A5A5A"/>
                </a:solidFill>
              </a:rPr>
              <a:t>Working tool · 664 tests · CycloneDX CBOM validated against the official schema · runs offline.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900" b="1" dirty="0">
                <a:latin typeface="Times New Roman" panose="02020603050405020304" pitchFamily="18" charset="0"/>
                <a:ea typeface="ＭＳ Ｐゴシック" pitchFamily="1" charset="-128"/>
                <a:cs typeface="Times New Roman" panose="02020603050405020304" pitchFamily="18" charset="0"/>
              </a:rPr>
              <a:t>CryptoDrishti  |  PROPOSED SOLUTION</a:t>
            </a: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15362" name="cd-body"/>
          <p:cNvSpPr txBox="1">
            <a:spLocks noChangeArrowheads="1"/>
          </p:cNvSpPr>
          <p:nvPr/>
        </p:nvSpPr>
        <p:spPr bwMode="auto">
          <a:xfrm>
            <a:off x="411480" y="1115568"/>
            <a:ext cx="5440680" cy="3931920"/>
          </a:xfrm>
          <a:prstGeom prst="rect">
            <a:avLst/>
          </a:prstGeom>
          <a:noFill/>
          <a:ln w="9525">
            <a:noFill/>
            <a:miter lim="800000"/>
            <a:headEnd/>
            <a:tailEnd/>
          </a:ln>
        </p:spPr>
        <p:txBody>
          <a:bodyPr wrap="square">
            <a:spAutoFit/>
          </a:bodyPr>
          <a:lstStyle/>
          <a:p>
            <a:pPr marL="0" indent="0">
              <a:spcBef>
                <a:spcPts val="0"/>
              </a:spcBef>
              <a:spcAft>
                <a:spcPts val="400"/>
              </a:spcAft>
              <a:buNone/>
            </a:pPr>
            <a:r>
              <a:rPr sz="1200" b="1">
                <a:solidFill>
                  <a:srgbClr val="8C1D1D"/>
                </a:solidFill>
              </a:rPr>
              <a:t>The problem</a:t>
            </a:r>
            <a:endParaRPr lang="en-US" sz="3200" u="sng" dirty="0">
              <a:solidFill>
                <a:schemeClr val="tx2"/>
              </a:solidFill>
              <a:latin typeface="Arial" pitchFamily="34" charset="0"/>
              <a:cs typeface="Arial" pitchFamily="34" charset="0"/>
            </a:endParaRPr>
          </a:p>
          <a:p>
            <a:pPr marL="0" indent="0">
              <a:spcBef>
                <a:spcPts val="0"/>
              </a:spcBef>
              <a:spcAft>
                <a:spcPts val="400"/>
              </a:spcAft>
              <a:buNone/>
            </a:pPr>
            <a:r>
              <a:rPr sz="1150">
                <a:solidFill>
                  <a:srgbClr val="1A1A1A"/>
                </a:solidFill>
              </a:rPr>
              <a:t>Post-quantum migration is an inventory problem before it is a mathematics problem. NIST published the replacement algorithms in 2024; almost nothing has moved, because no one can list what they have. Cryptography hides in source, transitive dependencies, binaries with no source, certificate stores, deployment config and shipped container images.</a:t>
            </a:r>
          </a:p>
          <a:p>
            <a:pPr marL="0" indent="0">
              <a:spcBef>
                <a:spcPts val="800"/>
              </a:spcBef>
              <a:spcAft>
                <a:spcPts val="400"/>
              </a:spcAft>
              <a:buNone/>
            </a:pPr>
            <a:r>
              <a:rPr sz="1200" b="1">
                <a:solidFill>
                  <a:srgbClr val="8C1D1D"/>
                </a:solidFill>
              </a:rPr>
              <a:t>Our solution</a:t>
            </a:r>
          </a:p>
          <a:p>
            <a:pPr marL="0" indent="0">
              <a:spcBef>
                <a:spcPts val="0"/>
              </a:spcBef>
              <a:spcAft>
                <a:spcPts val="400"/>
              </a:spcAft>
              <a:buNone/>
            </a:pPr>
            <a:r>
              <a:rPr sz="1150">
                <a:solidFill>
                  <a:srgbClr val="1A1A1A"/>
                </a:solidFill>
              </a:rPr>
              <a:t>Seven sensors read what is actually there. Every finding becomes a distinct asset, classified by what a quantum computer does to it, scored, matched to a named replacement, and exported as a CycloneDX CBOM. One operator, one machine, no network.</a:t>
            </a:r>
          </a:p>
          <a:p>
            <a:pPr marL="0" indent="0">
              <a:spcBef>
                <a:spcPts val="800"/>
              </a:spcBef>
              <a:spcAft>
                <a:spcPts val="400"/>
              </a:spcAft>
              <a:buNone/>
            </a:pPr>
            <a:r>
              <a:rPr sz="1200" b="1">
                <a:solidFill>
                  <a:srgbClr val="8C1D1D"/>
                </a:solidFill>
              </a:rPr>
              <a:t>Three things no other inventory does</a:t>
            </a:r>
          </a:p>
          <a:p>
            <a:pPr marL="160020" indent="-160020">
              <a:spcBef>
                <a:spcPts val="0"/>
              </a:spcBef>
              <a:spcAft>
                <a:spcPts val="400"/>
              </a:spcAft>
              <a:buFont typeface="Arial"/>
              <a:buChar char="–"/>
            </a:pPr>
            <a:r>
              <a:rPr sz="1150" b="1">
                <a:solidFill>
                  <a:srgbClr val="0F172A"/>
                </a:solidFill>
              </a:rPr>
              <a:t>Purpose, not keyword. </a:t>
            </a:r>
            <a:r>
              <a:rPr sz="1150">
                <a:solidFill>
                  <a:srgbClr val="1A1A1A"/>
                </a:solidFill>
              </a:rPr>
              <a:t>RSA signing and RSA key transport are one algorithm and two migrations — ML-DSA against ML-KEM. Purpose is resolved from the call site, and when the evidence is silent the tool names no target rather than the wrong one.</a:t>
            </a:r>
          </a:p>
          <a:p>
            <a:pPr marL="160020" indent="-160020">
              <a:spcBef>
                <a:spcPts val="0"/>
              </a:spcBef>
              <a:spcAft>
                <a:spcPts val="400"/>
              </a:spcAft>
              <a:buFont typeface="Arial"/>
              <a:buChar char="–"/>
            </a:pPr>
            <a:r>
              <a:rPr sz="1150" b="1">
                <a:solidFill>
                  <a:srgbClr val="0F172A"/>
                </a:solidFill>
              </a:rPr>
              <a:t>Assurance is a field, not a footnote. </a:t>
            </a:r>
            <a:r>
              <a:rPr sz="1150">
                <a:solidFill>
                  <a:srgbClr val="1A1A1A"/>
                </a:solidFill>
              </a:rPr>
              <a:t>Capability, declared, used, observed. A library that can do RSA is not proof that RSA runs.</a:t>
            </a:r>
          </a:p>
          <a:p>
            <a:pPr marL="160020" indent="-160020">
              <a:spcBef>
                <a:spcPts val="0"/>
              </a:spcBef>
              <a:spcAft>
                <a:spcPts val="400"/>
              </a:spcAft>
              <a:buFont typeface="Arial"/>
              <a:buChar char="–"/>
            </a:pPr>
            <a:r>
              <a:rPr sz="1150" b="1">
                <a:solidFill>
                  <a:srgbClr val="0F172A"/>
                </a:solidFill>
              </a:rPr>
              <a:t>Containers read layer by layer. </a:t>
            </a:r>
            <a:r>
              <a:rPr sz="1150">
                <a:solidFill>
                  <a:srgbClr val="1A1A1A"/>
                </a:solidFill>
              </a:rPr>
              <a:t>A key deleted by a later layer is reported as historical: gone at runtime, still extractable from the archive.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cd-shot-04-inventory" descr="04-inventory-190-0-0.58.png"/>
          <p:cNvPicPr>
            <a:picLocks noChangeAspect="1"/>
          </p:cNvPicPr>
          <p:nvPr/>
        </p:nvPicPr>
        <p:blipFill>
          <a:blip r:embed="rId4"/>
          <a:stretch>
            <a:fillRect/>
          </a:stretch>
        </p:blipFill>
        <p:spPr>
          <a:xfrm>
            <a:off x="6053328" y="1188720"/>
            <a:ext cx="5724144" cy="3550053"/>
          </a:xfrm>
          <a:prstGeom prst="rect">
            <a:avLst/>
          </a:prstGeom>
        </p:spPr>
      </p:pic>
      <p:sp>
        <p:nvSpPr>
          <p:cNvPr id="15364" name="cd-caption"/>
          <p:cNvSpPr txBox="1"/>
          <p:nvPr/>
        </p:nvSpPr>
        <p:spPr>
          <a:xfrm>
            <a:off x="6053328" y="4802781"/>
            <a:ext cx="5724144" cy="274320"/>
          </a:xfrm>
          <a:prstGeom prst="rect">
            <a:avLst/>
          </a:prstGeom>
          <a:noFill/>
        </p:spPr>
        <p:txBody>
          <a:bodyPr wrap="square">
            <a:spAutoFit/>
          </a:bodyPr>
          <a:lstStyle/>
          <a:p>
            <a:pPr marL="0" indent="0">
              <a:buNone/>
            </a:pPr>
            <a:r>
              <a:rPr sz="950">
                <a:solidFill>
                  <a:srgbClr val="5A5A5A"/>
                </a:solidFill>
              </a:rPr>
              <a:t>One scan. Three RSA findings, three different recommendations — and the third refuses to guess.</a:t>
            </a:r>
          </a:p>
        </p:txBody>
      </p:sp>
      <p:sp>
        <p:nvSpPr>
          <p:cNvPr id="15365" name="cd-note"/>
          <p:cNvSpPr txBox="1"/>
          <p:nvPr/>
        </p:nvSpPr>
        <p:spPr>
          <a:xfrm>
            <a:off x="411480" y="5230368"/>
            <a:ext cx="11365992" cy="960120"/>
          </a:xfrm>
          <a:prstGeom prst="rect">
            <a:avLst/>
          </a:prstGeom>
          <a:noFill/>
        </p:spPr>
        <p:txBody>
          <a:bodyPr wrap="square">
            <a:spAutoFit/>
          </a:bodyPr>
          <a:lstStyle/>
          <a:p>
            <a:pPr marL="0" indent="0">
              <a:spcBef>
                <a:spcPts val="0"/>
              </a:spcBef>
              <a:spcAft>
                <a:spcPts val="300"/>
              </a:spcAft>
              <a:buNone/>
            </a:pPr>
            <a:r>
              <a:rPr sz="1050" b="1">
                <a:solidFill>
                  <a:srgbClr val="0F172A"/>
                </a:solidFill>
              </a:rPr>
              <a:t>Where it looks — </a:t>
            </a:r>
            <a:r>
              <a:rPr sz="1050">
                <a:solidFill>
                  <a:srgbClr val="1A1A1A"/>
                </a:solidFill>
              </a:rPr>
              <a:t>source (Python AST, plus rule packs for seven more languages) · dependency manifests · ELF binaries · X.509 certificates · server and application configuration · container images (OCI layout, OCI tar, docker save) · one live TLS endpoint the operator names.</a:t>
            </a:r>
          </a:p>
          <a:p>
            <a:pPr marL="0" indent="0">
              <a:spcBef>
                <a:spcPts val="0"/>
              </a:spcBef>
              <a:spcAft>
                <a:spcPts val="300"/>
              </a:spcAft>
              <a:buNone/>
            </a:pPr>
            <a:r>
              <a:rPr sz="950" i="1">
                <a:solidFill>
                  <a:srgbClr val="5A5A5A"/>
                </a:solidFill>
              </a:rPr>
              <a:t>Every sensor but the TLS probe runs with the network unplugged.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cd-body"/>
          <p:cNvSpPr txBox="1">
            <a:spLocks noChangeArrowheads="1"/>
          </p:cNvSpPr>
          <p:nvPr/>
        </p:nvSpPr>
        <p:spPr bwMode="auto">
          <a:xfrm>
            <a:off x="411480" y="1115568"/>
            <a:ext cx="5532120" cy="1481328"/>
          </a:xfrm>
          <a:prstGeom prst="rect">
            <a:avLst/>
          </a:prstGeom>
          <a:noFill/>
          <a:ln w="9525">
            <a:noFill/>
            <a:miter lim="800000"/>
            <a:headEnd/>
            <a:tailEnd/>
          </a:ln>
        </p:spPr>
        <p:txBody>
          <a:bodyPr wrap="square">
            <a:spAutoFit/>
          </a:bodyPr>
          <a:lstStyle/>
          <a:p>
            <a:pPr marL="0" indent="0" algn="just">
              <a:spcBef>
                <a:spcPts val="0"/>
              </a:spcBef>
              <a:spcAft>
                <a:spcPts val="300"/>
              </a:spcAft>
              <a:buNone/>
            </a:pPr>
            <a:r>
              <a:rPr sz="1100" b="1">
                <a:solidFill>
                  <a:srgbClr val="8C1D1D"/>
                </a:solidFill>
              </a:rPr>
              <a:t>Stack</a:t>
            </a:r>
          </a:p>
          <a:p>
            <a:pPr marL="0" indent="0">
              <a:spcBef>
                <a:spcPts val="0"/>
              </a:spcBef>
              <a:spcAft>
                <a:spcPts val="300"/>
              </a:spcAft>
              <a:buNone/>
            </a:pPr>
            <a:r>
              <a:rPr sz="1050">
                <a:solidFill>
                  <a:srgbClr val="1A1A1A"/>
                </a:solidFill>
              </a:rPr>
              <a:t>Python 3.11+ · FastAPI · SQLite · a vanilla JavaScript console with no build step, no framework and no CDN.</a:t>
            </a:r>
          </a:p>
          <a:p>
            <a:pPr marL="0" indent="0">
              <a:spcBef>
                <a:spcPts val="700"/>
              </a:spcBef>
              <a:spcAft>
                <a:spcPts val="300"/>
              </a:spcAft>
              <a:buNone/>
            </a:pPr>
            <a:r>
              <a:rPr sz="1100" b="1">
                <a:solidFill>
                  <a:srgbClr val="8C1D1D"/>
                </a:solidFill>
              </a:rPr>
              <a:t>Seven discovery sensors</a:t>
            </a:r>
          </a:p>
          <a:p>
            <a:pPr marL="0" indent="0">
              <a:spcBef>
                <a:spcPts val="0"/>
              </a:spcBef>
              <a:spcAft>
                <a:spcPts val="300"/>
              </a:spcAft>
              <a:buNone/>
            </a:pPr>
            <a:r>
              <a:rPr sz="1050">
                <a:solidFill>
                  <a:srgbClr val="1A1A1A"/>
                </a:solidFill>
              </a:rPr>
              <a:t>source · dependency · binary (ELF symbols, constants, banners) · certificate (X.509, KeyUsage) · configuration · container (layer replay with whiteouts) · network (live TLS).</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6263640" y="1115568"/>
            <a:ext cx="5513832" cy="1481328"/>
          </a:xfrm>
          <a:prstGeom prst="rect">
            <a:avLst/>
          </a:prstGeom>
          <a:noFill/>
        </p:spPr>
        <p:txBody>
          <a:bodyPr wrap="square">
            <a:spAutoFit/>
          </a:bodyPr>
          <a:lstStyle/>
          <a:p>
            <a:pPr marL="0" indent="0">
              <a:spcBef>
                <a:spcPts val="0"/>
              </a:spcBef>
              <a:spcAft>
                <a:spcPts val="300"/>
              </a:spcAft>
              <a:buNone/>
            </a:pPr>
            <a:r>
              <a:rPr sz="1100" b="1">
                <a:solidFill>
                  <a:srgbClr val="8C1D1D"/>
                </a:solidFill>
              </a:rPr>
              <a:t>Risk engine</a:t>
            </a:r>
          </a:p>
          <a:p>
            <a:pPr marL="0" indent="0">
              <a:spcBef>
                <a:spcPts val="0"/>
              </a:spcBef>
              <a:spcAft>
                <a:spcPts val="300"/>
              </a:spcAft>
              <a:buNone/>
            </a:pPr>
            <a:r>
              <a:rPr sz="1050">
                <a:solidFill>
                  <a:srgbClr val="1A1A1A"/>
                </a:solidFill>
              </a:rPr>
              <a:t>Mosca's inequality, X + Y &gt; Z, read differently per purpose: harvest-now-decrypt-later for key establishment, forgery-after-Q-Day for signatures, a Grover margin for symmetric keys. Q-Day is a scenario the operator chooses, never a forecast.</a:t>
            </a:r>
          </a:p>
          <a:p>
            <a:pPr marL="0" indent="0">
              <a:spcBef>
                <a:spcPts val="700"/>
              </a:spcBef>
              <a:spcAft>
                <a:spcPts val="300"/>
              </a:spcAft>
              <a:buNone/>
            </a:pPr>
            <a:r>
              <a:rPr sz="1100" b="1">
                <a:solidFill>
                  <a:srgbClr val="8C1D1D"/>
                </a:solidFill>
              </a:rPr>
              <a:t>Output and posture</a:t>
            </a:r>
          </a:p>
          <a:p>
            <a:pPr marL="0" indent="0">
              <a:spcBef>
                <a:spcPts val="0"/>
              </a:spcBef>
              <a:spcAft>
                <a:spcPts val="300"/>
              </a:spcAft>
              <a:buNone/>
            </a:pPr>
            <a:r>
              <a:rPr sz="1050">
                <a:solidFill>
                  <a:srgbClr val="1A1A1A"/>
                </a:solidFill>
              </a:rPr>
              <a:t>CycloneDX 1.6 (ECMA-424) and 1.7, each validated offline against its own official schema. Loopback by default; refuses a non-loopback bind without a token.</a:t>
            </a:r>
          </a:p>
        </p:txBody>
      </p:sp>
      <p:pic>
        <p:nvPicPr>
          <p:cNvPr id="17412" name="cd-figure-architecture-dark" descr="architecture-dark.png"/>
          <p:cNvPicPr>
            <a:picLocks noChangeAspect="1"/>
          </p:cNvPicPr>
          <p:nvPr/>
        </p:nvPicPr>
        <p:blipFill>
          <a:blip r:embed="rId4"/>
          <a:stretch>
            <a:fillRect/>
          </a:stretch>
        </p:blipFill>
        <p:spPr>
          <a:xfrm>
            <a:off x="2029968" y="2633472"/>
            <a:ext cx="8070473" cy="3273552"/>
          </a:xfrm>
          <a:prstGeom prst="rect">
            <a:avLst/>
          </a:prstGeom>
        </p:spPr>
      </p:pic>
      <p:sp>
        <p:nvSpPr>
          <p:cNvPr id="17413" name="cd-caption"/>
          <p:cNvSpPr txBox="1"/>
          <p:nvPr/>
        </p:nvSpPr>
        <p:spPr>
          <a:xfrm>
            <a:off x="2029968" y="5971032"/>
            <a:ext cx="8070473" cy="274320"/>
          </a:xfrm>
          <a:prstGeom prst="rect">
            <a:avLst/>
          </a:prstGeom>
          <a:noFill/>
        </p:spPr>
        <p:txBody>
          <a:bodyPr wrap="square">
            <a:spAutoFit/>
          </a:bodyPr>
          <a:lstStyle/>
          <a:p>
            <a:pPr marL="0" indent="0">
              <a:buNone/>
            </a:pPr>
            <a:r>
              <a:rPr sz="950">
                <a:solidFill>
                  <a:srgbClr val="5A5A5A"/>
                </a:solidFill>
              </a:rPr>
              <a:t>Left to right: inputs, the security gate each one passes through, the seven sensors, the analysis chain, and the outputs. The TLS probe (dashed) is the only outbound path — there is no cloud, KMS, HSM or registry box, because no such integration exists.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cd-body"/>
          <p:cNvSpPr txBox="1">
            <a:spLocks noChangeArrowheads="1"/>
          </p:cNvSpPr>
          <p:nvPr/>
        </p:nvSpPr>
        <p:spPr bwMode="auto">
          <a:xfrm>
            <a:off x="411480" y="1115568"/>
            <a:ext cx="7315200" cy="406908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00" b="1">
                <a:solidFill>
                  <a:srgbClr val="8C1D1D"/>
                </a:solidFill>
              </a:rPr>
              <a:t>It is built, not proposed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Bef>
                <a:spcPts val="0"/>
              </a:spcBef>
              <a:spcAft>
                <a:spcPts val="300"/>
              </a:spcAft>
              <a:buNone/>
            </a:pPr>
            <a:r>
              <a:rPr sz="1050" b="1">
                <a:solidFill>
                  <a:srgbClr val="0F172A"/>
                </a:solidFill>
              </a:rPr>
              <a:t>~9,000 lines of first-party Python and JavaScript · 664 automated tests · CI on Python 3.11, 3.12 and 3.13 · </a:t>
            </a:r>
            <a:r>
              <a:rPr sz="1050">
                <a:solidFill>
                  <a:srgbClr val="1A1A1A"/>
                </a:solidFill>
              </a:rPr>
              <a:t>every figure on this slide is reproducible by a command in this repository.</a:t>
            </a:r>
          </a:p>
          <a:p>
            <a:pPr marL="0" indent="0">
              <a:spcBef>
                <a:spcPts val="700"/>
              </a:spcBef>
              <a:spcAft>
                <a:spcPts val="300"/>
              </a:spcAft>
              <a:buNone/>
            </a:pPr>
            <a:r>
              <a:rPr sz="1100" b="1">
                <a:solidFill>
                  <a:srgbClr val="8C1D1D"/>
                </a:solidFill>
              </a:rPr>
              <a:t>How we know it works</a:t>
            </a:r>
          </a:p>
          <a:p>
            <a:pPr marL="160020" indent="-160020">
              <a:spcBef>
                <a:spcPts val="0"/>
              </a:spcBef>
              <a:spcAft>
                <a:spcPts val="300"/>
              </a:spcAft>
              <a:buFont typeface="Arial"/>
              <a:buChar char="–"/>
            </a:pPr>
            <a:r>
              <a:rPr sz="1050" b="1">
                <a:solidFill>
                  <a:srgbClr val="0F172A"/>
                </a:solidFill>
              </a:rPr>
              <a:t>Measured, not asserted. </a:t>
            </a:r>
            <a:r>
              <a:rPr sz="1050">
                <a:solidFill>
                  <a:srgbClr val="1A1A1A"/>
                </a:solidFill>
              </a:rPr>
              <a:t>A hand-labelled corpus of 116 findings across six scanners, written by reading the fixtures rather than by running the tool. It found seven real detector defects that code review had missed. CI fails if precision or recall regresses.</a:t>
            </a:r>
          </a:p>
          <a:p>
            <a:pPr marL="160020" indent="-160020">
              <a:spcBef>
                <a:spcPts val="0"/>
              </a:spcBef>
              <a:spcAft>
                <a:spcPts val="300"/>
              </a:spcAft>
              <a:buFont typeface="Arial"/>
              <a:buChar char="–"/>
            </a:pPr>
            <a:r>
              <a:rPr sz="1050" b="1">
                <a:solidFill>
                  <a:srgbClr val="0F172A"/>
                </a:solidFill>
              </a:rPr>
              <a:t>Conformance is checked by the standard, not by us. </a:t>
            </a:r>
            <a:r>
              <a:rPr sz="1050">
                <a:solidFill>
                  <a:srgbClr val="1A1A1A"/>
                </a:solidFill>
              </a:rPr>
              <a:t>Every CBOM is validated against the official CycloneDX JSON Schemas, offline, at a pinned commit. CI fails on any violation.</a:t>
            </a:r>
          </a:p>
          <a:p>
            <a:pPr marL="0" indent="0">
              <a:spcBef>
                <a:spcPts val="700"/>
              </a:spcBef>
              <a:spcAft>
                <a:spcPts val="300"/>
              </a:spcAft>
              <a:buNone/>
            </a:pPr>
            <a:r>
              <a:rPr sz="1100" b="1">
                <a:solidFill>
                  <a:srgbClr val="8C1D1D"/>
                </a:solidFill>
              </a:rPr>
              <a:t>The three risks that actually matter, and the answers</a:t>
            </a:r>
          </a:p>
          <a:p>
            <a:pPr marL="160020" indent="-160020">
              <a:spcBef>
                <a:spcPts val="0"/>
              </a:spcBef>
              <a:spcAft>
                <a:spcPts val="300"/>
              </a:spcAft>
              <a:buFont typeface="Arial"/>
              <a:buChar char="–"/>
            </a:pPr>
            <a:r>
              <a:rPr sz="1050" b="1">
                <a:solidFill>
                  <a:srgbClr val="0F172A"/>
                </a:solidFill>
              </a:rPr>
              <a:t>Hostile input. </a:t>
            </a:r>
            <a:r>
              <a:rPr sz="1050">
                <a:solidFill>
                  <a:srgbClr val="1A1A1A"/>
                </a:solidFill>
              </a:rPr>
              <a:t>It reads untrusted paths and archives, so: filesystem boundary with symlink-escape refusal, per-member archive vetting, bounded streaming with nothing extracted to disk, and a destination policy that resolves, vets every resolved address, then connects to the vetted literal.</a:t>
            </a:r>
          </a:p>
          <a:p>
            <a:pPr marL="160020" indent="-160020">
              <a:spcBef>
                <a:spcPts val="0"/>
              </a:spcBef>
              <a:spcAft>
                <a:spcPts val="300"/>
              </a:spcAft>
              <a:buFont typeface="Arial"/>
              <a:buChar char="–"/>
            </a:pPr>
            <a:r>
              <a:rPr sz="1050" b="1">
                <a:solidFill>
                  <a:srgbClr val="0F172A"/>
                </a:solidFill>
              </a:rPr>
              <a:t>A partial scan mistaken for a complete one. </a:t>
            </a:r>
            <a:r>
              <a:rPr sz="1050">
                <a:solidFill>
                  <a:srgbClr val="1A1A1A"/>
                </a:solidFill>
              </a:rPr>
              <a:t>The most damaging thing this tool could produce. Every scan carries an explicit complete-or-partial flag and its reasons into the console, the report and the CBOM.</a:t>
            </a:r>
          </a:p>
          <a:p>
            <a:pPr marL="160020" indent="-160020">
              <a:spcBef>
                <a:spcPts val="0"/>
              </a:spcBef>
              <a:spcAft>
                <a:spcPts val="300"/>
              </a:spcAft>
              <a:buFont typeface="Arial"/>
              <a:buChar char="–"/>
            </a:pPr>
            <a:r>
              <a:rPr sz="1050" b="1">
                <a:solidFill>
                  <a:srgbClr val="0F172A"/>
                </a:solidFill>
              </a:rPr>
              <a:t>Leaking what it finds. </a:t>
            </a:r>
            <a:r>
              <a:rPr sz="1050">
                <a:solidFill>
                  <a:srgbClr val="1A1A1A"/>
                </a:solidFill>
              </a:rPr>
              <a:t>A crypto inventory is the most sensitive file an estate owns. Evidence is redacted before export; the location is kept, because that is what makes a finding actionable.</a:t>
            </a:r>
          </a:p>
          <a:p>
            <a:pPr marL="0" indent="0">
              <a:spcBef>
                <a:spcPts val="700"/>
              </a:spcBef>
              <a:spcAft>
                <a:spcPts val="300"/>
              </a:spcAft>
              <a:buNone/>
            </a:pPr>
            <a:r>
              <a:rPr sz="1100" b="1">
                <a:solidFill>
                  <a:srgbClr val="8C1D1D"/>
                </a:solidFill>
              </a:rPr>
              <a:t>What that adds up to</a:t>
            </a:r>
          </a:p>
          <a:p>
            <a:pPr marL="0" indent="0">
              <a:spcBef>
                <a:spcPts val="0"/>
              </a:spcBef>
              <a:spcAft>
                <a:spcPts val="300"/>
              </a:spcAft>
              <a:buNone/>
            </a:pPr>
            <a:r>
              <a:rPr sz="1050" b="1">
                <a:solidFill>
                  <a:srgbClr val="0F172A"/>
                </a:solidFill>
              </a:rPr>
              <a:t>664 automated tests · 116 labelled benchmark findings across six scanners · 7 detector defects the benchmark found that code review did not · 0 schema violations, </a:t>
            </a:r>
            <a:r>
              <a:rPr sz="1050">
                <a:solidFill>
                  <a:srgbClr val="1A1A1A"/>
                </a:solidFill>
              </a:rPr>
              <a:t>each checked by CI on every push to this branch.</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7-evidence-drawer" descr="07-evidence-drawer-0-0-0.53.png"/>
          <p:cNvPicPr>
            <a:picLocks noChangeAspect="1"/>
          </p:cNvPicPr>
          <p:nvPr/>
        </p:nvPicPr>
        <p:blipFill>
          <a:blip r:embed="rId4"/>
          <a:stretch>
            <a:fillRect/>
          </a:stretch>
        </p:blipFill>
        <p:spPr>
          <a:xfrm>
            <a:off x="7973568" y="1152144"/>
            <a:ext cx="3803904" cy="4134517"/>
          </a:xfrm>
          <a:prstGeom prst="rect">
            <a:avLst/>
          </a:prstGeom>
        </p:spPr>
      </p:pic>
      <p:sp>
        <p:nvSpPr>
          <p:cNvPr id="17412" name="cd-caption"/>
          <p:cNvSpPr txBox="1"/>
          <p:nvPr/>
        </p:nvSpPr>
        <p:spPr>
          <a:xfrm>
            <a:off x="7973568" y="5350669"/>
            <a:ext cx="3803904" cy="274320"/>
          </a:xfrm>
          <a:prstGeom prst="rect">
            <a:avLst/>
          </a:prstGeom>
          <a:noFill/>
        </p:spPr>
        <p:txBody>
          <a:bodyPr wrap="square">
            <a:spAutoFit/>
          </a:bodyPr>
          <a:lstStyle/>
          <a:p>
            <a:pPr marL="0" indent="0">
              <a:buNone/>
            </a:pPr>
            <a:r>
              <a:rPr sz="950">
                <a:solidFill>
                  <a:srgbClr val="5A5A5A"/>
                </a:solidFill>
              </a:rPr>
              <a:t>Every finding opens onto the evidence behind it and the arithmetic behind its score.</a:t>
            </a:r>
          </a:p>
        </p:txBody>
      </p:sp>
      <p:sp>
        <p:nvSpPr>
          <p:cNvPr id="17413" name="cd-note"/>
          <p:cNvSpPr txBox="1"/>
          <p:nvPr/>
        </p:nvSpPr>
        <p:spPr>
          <a:xfrm>
            <a:off x="411480" y="5303520"/>
            <a:ext cx="7315200" cy="914400"/>
          </a:xfrm>
          <a:prstGeom prst="rect">
            <a:avLst/>
          </a:prstGeom>
          <a:noFill/>
        </p:spPr>
        <p:txBody>
          <a:bodyPr wrap="square">
            <a:spAutoFit/>
          </a:bodyPr>
          <a:lstStyle/>
          <a:p>
            <a:pPr marL="0" indent="0">
              <a:spcBef>
                <a:spcPts val="0"/>
              </a:spcBef>
              <a:spcAft>
                <a:spcPts val="300"/>
              </a:spcAft>
              <a:buNone/>
            </a:pPr>
            <a:r>
              <a:rPr sz="1000" b="1">
                <a:solidFill>
                  <a:srgbClr val="0F172A"/>
                </a:solidFill>
              </a:rPr>
              <a:t>Stated limits — </a:t>
            </a:r>
            <a:r>
              <a:rPr sz="1000">
                <a:solidFill>
                  <a:srgbClr val="1A1A1A"/>
                </a:solidFill>
              </a:rPr>
              <a:t>full AST analysis is Python only; seven more languages use curated rule packs, and Rust and Swift are recognised but effectively uncovered. Binary parsing is ELF only, so Mach-O and PE are out of scope. No KMS, HSM, cloud or Kubernetes integration exists, and none is claimed.</a:t>
            </a:r>
          </a:p>
          <a:p>
            <a:pPr marL="0" indent="0">
              <a:spcBef>
                <a:spcPts val="0"/>
              </a:spcBef>
              <a:spcAft>
                <a:spcPts val="300"/>
              </a:spcAft>
              <a:buNone/>
            </a:pPr>
            <a:r>
              <a:rPr sz="1000" b="1">
                <a:solidFill>
                  <a:srgbClr val="0F172A"/>
                </a:solidFill>
              </a:rPr>
              <a:t>Reproduce it — </a:t>
            </a:r>
            <a:r>
              <a:rPr sz="900" i="1">
                <a:solidFill>
                  <a:srgbClr val="5A5A5A"/>
                </a:solidFill>
              </a:rPr>
              <a:t>python -m pytest  ·  python -m benchmark.run  ·  python run.py --demo  ·  python run.py --preflight-offline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cd-body"/>
          <p:cNvSpPr txBox="1">
            <a:spLocks noChangeArrowheads="1"/>
          </p:cNvSpPr>
          <p:nvPr/>
        </p:nvSpPr>
        <p:spPr bwMode="auto">
          <a:xfrm>
            <a:off x="411480" y="1115568"/>
            <a:ext cx="5532120" cy="41148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50" b="1">
                <a:solidFill>
                  <a:srgbClr val="8C1D1D"/>
                </a:solidFill>
              </a:rPr>
              <a:t>Who it is for</a:t>
            </a:r>
          </a:p>
          <a:p>
            <a:pPr marL="0" indent="0">
              <a:spcBef>
                <a:spcPts val="0"/>
              </a:spcBef>
              <a:spcAft>
                <a:spcPts val="300"/>
              </a:spcAft>
              <a:buNone/>
            </a:pPr>
            <a:r>
              <a:rPr sz="1100">
                <a:solidFill>
                  <a:srgbClr val="1A1A1A"/>
                </a:solidFill>
              </a:rPr>
              <a:t>Security engineers and migration programme owners who have been told to move to post-quantum cryptography and have no inventory to move.</a:t>
            </a:r>
          </a:p>
          <a:p>
            <a:pPr marL="0" indent="0">
              <a:spcBef>
                <a:spcPts val="700"/>
              </a:spcBef>
              <a:spcAft>
                <a:spcPts val="300"/>
              </a:spcAft>
              <a:buNone/>
            </a:pPr>
            <a:r>
              <a:rPr sz="1150" b="1">
                <a:solidFill>
                  <a:srgbClr val="8C1D1D"/>
                </a:solidFill>
              </a:rPr>
              <a:t>What changes for them</a:t>
            </a:r>
          </a:p>
          <a:p>
            <a:pPr marL="160020" indent="-160020">
              <a:spcBef>
                <a:spcPts val="0"/>
              </a:spcBef>
              <a:spcAft>
                <a:spcPts val="300"/>
              </a:spcAft>
              <a:buFont typeface="Arial"/>
              <a:buChar char="–"/>
            </a:pPr>
            <a:r>
              <a:rPr sz="1100">
                <a:solidFill>
                  <a:srgbClr val="1A1A1A"/>
                </a:solidFill>
              </a:rPr>
              <a:t>“We think we use RSA somewhere” becomes a per-asset list with file, line, purpose, evidence strength and a named replacement.</a:t>
            </a:r>
          </a:p>
          <a:p>
            <a:pPr marL="160020" indent="-160020">
              <a:spcBef>
                <a:spcPts val="0"/>
              </a:spcBef>
              <a:spcAft>
                <a:spcPts val="300"/>
              </a:spcAft>
              <a:buFont typeface="Arial"/>
              <a:buChar char="–"/>
            </a:pPr>
            <a:r>
              <a:rPr sz="1100">
                <a:solidFill>
                  <a:srgbClr val="1A1A1A"/>
                </a:solidFill>
              </a:rPr>
              <a:t>What an estate runs is separated from what it merely has installed, so the migration plan is not padded with libraries nobody calls.</a:t>
            </a:r>
          </a:p>
          <a:p>
            <a:pPr marL="160020" indent="-160020">
              <a:spcBef>
                <a:spcPts val="0"/>
              </a:spcBef>
              <a:spcAft>
                <a:spcPts val="300"/>
              </a:spcAft>
              <a:buFont typeface="Arial"/>
              <a:buChar char="–"/>
            </a:pPr>
            <a:r>
              <a:rPr sz="1100">
                <a:solidFill>
                  <a:srgbClr val="1A1A1A"/>
                </a:solidFill>
              </a:rPr>
              <a:t>The output is a published standard a regulator or a downstream tool can consume, not a bespoke report format.</a:t>
            </a:r>
          </a:p>
          <a:p>
            <a:pPr marL="160020" indent="-160020">
              <a:spcBef>
                <a:spcPts val="0"/>
              </a:spcBef>
              <a:spcAft>
                <a:spcPts val="300"/>
              </a:spcAft>
              <a:buFont typeface="Arial"/>
              <a:buChar char="–"/>
            </a:pPr>
            <a:r>
              <a:rPr sz="1100">
                <a:solidFill>
                  <a:srgbClr val="1A1A1A"/>
                </a:solidFill>
              </a:rPr>
              <a:t>A partial scan is labelled partial, so nobody signs off an estate on an inventory that silently missed half of it.</a:t>
            </a:r>
          </a:p>
          <a:p>
            <a:pPr marL="0" indent="0">
              <a:spcBef>
                <a:spcPts val="700"/>
              </a:spcBef>
              <a:spcAft>
                <a:spcPts val="300"/>
              </a:spcAft>
              <a:buNone/>
            </a:pPr>
            <a:r>
              <a:rPr sz="1150" b="1">
                <a:solidFill>
                  <a:srgbClr val="8C1D1D"/>
                </a:solidFill>
              </a:rPr>
              <a:t>Measured evidence</a:t>
            </a:r>
          </a:p>
          <a:p>
            <a:pPr marL="0" indent="0">
              <a:spcBef>
                <a:spcPts val="0"/>
              </a:spcBef>
              <a:spcAft>
                <a:spcPts val="300"/>
              </a:spcAft>
              <a:buNone/>
            </a:pPr>
            <a:r>
              <a:rPr sz="1100" b="1">
                <a:solidFill>
                  <a:srgbClr val="0F172A"/>
                </a:solidFill>
              </a:rPr>
              <a:t>Over the project's own labelled corpus of 116 findings: </a:t>
            </a:r>
            <a:r>
              <a:rPr sz="1100">
                <a:solidFill>
                  <a:srgbClr val="1A1A1A"/>
                </a:solidFill>
              </a:rPr>
              <a:t>precision 1.000, recall 1.000, F1 1.000, with cryptographic purpose correct on 114 of 114 scored cases.</a:t>
            </a:r>
          </a:p>
          <a:p>
            <a:pPr marL="0" indent="0">
              <a:spcBef>
                <a:spcPts val="0"/>
              </a:spcBef>
              <a:spcAft>
                <a:spcPts val="300"/>
              </a:spcAft>
              <a:buNone/>
            </a:pPr>
            <a:r>
              <a:rPr sz="1000" i="1">
                <a:solidFill>
                  <a:srgbClr val="5A5A5A"/>
                </a:solidFill>
              </a:rPr>
              <a:t>Read that precisely. These figures measure a developer-written synthetic corpus. They are NOT an estimate of real-world enterprise accuracy, which this project has not measured and does not claim. Network-sensor accuracy is excluded, because what a TLS handshake negotiates depends on the local library build.</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1-assessment" descr="01-assessment-190-0-1.png"/>
          <p:cNvPicPr>
            <a:picLocks noChangeAspect="1"/>
          </p:cNvPicPr>
          <p:nvPr/>
        </p:nvPicPr>
        <p:blipFill>
          <a:blip r:embed="rId4"/>
          <a:stretch>
            <a:fillRect/>
          </a:stretch>
        </p:blipFill>
        <p:spPr>
          <a:xfrm>
            <a:off x="6144768" y="1152144"/>
            <a:ext cx="5632704" cy="3731444"/>
          </a:xfrm>
          <a:prstGeom prst="rect">
            <a:avLst/>
          </a:prstGeom>
        </p:spPr>
      </p:pic>
      <p:sp>
        <p:nvSpPr>
          <p:cNvPr id="17412" name="cd-caption"/>
          <p:cNvSpPr txBox="1"/>
          <p:nvPr/>
        </p:nvSpPr>
        <p:spPr>
          <a:xfrm>
            <a:off x="6144768" y="4947596"/>
            <a:ext cx="5632704" cy="274320"/>
          </a:xfrm>
          <a:prstGeom prst="rect">
            <a:avLst/>
          </a:prstGeom>
          <a:noFill/>
        </p:spPr>
        <p:txBody>
          <a:bodyPr wrap="square">
            <a:spAutoFit/>
          </a:bodyPr>
          <a:lstStyle/>
          <a:p>
            <a:pPr marL="0" indent="0">
              <a:buNone/>
            </a:pPr>
            <a:r>
              <a:rPr sz="950">
                <a:solidFill>
                  <a:srgbClr val="5A5A5A"/>
                </a:solidFill>
              </a:rPr>
              <a:t>The whole estate in one screen — with the partial-scan warning stated at the top rather than buried in a payload.</a:t>
            </a:r>
          </a:p>
        </p:txBody>
      </p:sp>
      <p:sp>
        <p:nvSpPr>
          <p:cNvPr id="17413" name="cd-note"/>
          <p:cNvSpPr txBox="1"/>
          <p:nvPr/>
        </p:nvSpPr>
        <p:spPr>
          <a:xfrm>
            <a:off x="6144768" y="5358384"/>
            <a:ext cx="5632704" cy="868680"/>
          </a:xfrm>
          <a:prstGeom prst="rect">
            <a:avLst/>
          </a:prstGeom>
          <a:noFill/>
        </p:spPr>
        <p:txBody>
          <a:bodyPr wrap="square">
            <a:spAutoFit/>
          </a:bodyPr>
          <a:lstStyle/>
          <a:p>
            <a:pPr marL="0" indent="0">
              <a:spcBef>
                <a:spcPts val="0"/>
              </a:spcBef>
              <a:spcAft>
                <a:spcPts val="200"/>
              </a:spcAft>
              <a:buNone/>
            </a:pPr>
            <a:r>
              <a:rPr sz="1050" b="1">
                <a:solidFill>
                  <a:srgbClr val="0F172A"/>
                </a:solidFill>
              </a:rPr>
              <a:t>Adoption cost — </a:t>
            </a:r>
            <a:r>
              <a:rPr sz="950" i="1">
                <a:solidFill>
                  <a:srgbClr val="5A5A5A"/>
                </a:solidFill>
              </a:rPr>
              <a:t>one command. No daemon, no agent, no cloud account, no network. It reads a repository, a binary tree or a container image on the machine it is already running on.</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29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cd-body"/>
          <p:cNvSpPr txBox="1">
            <a:spLocks noChangeArrowheads="1"/>
          </p:cNvSpPr>
          <p:nvPr/>
        </p:nvSpPr>
        <p:spPr bwMode="auto">
          <a:xfrm>
            <a:off x="411480" y="1115568"/>
            <a:ext cx="5760720" cy="420624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200"/>
              </a:spcAft>
              <a:buClrTx/>
              <a:buSzTx/>
              <a:buNone/>
              <a:tabLst/>
              <a:defRPr/>
            </a:pPr>
            <a:r>
              <a:rPr sz="1100" b="1">
                <a:solidFill>
                  <a:srgbClr val="8C1D1D"/>
                </a:solidFill>
              </a:rPr>
              <a:t>Standards implemented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160020" indent="-160020">
              <a:spcBef>
                <a:spcPts val="0"/>
              </a:spcBef>
              <a:spcAft>
                <a:spcPts val="200"/>
              </a:spcAft>
              <a:buFont typeface="Arial"/>
              <a:buChar char="–"/>
            </a:pPr>
            <a:r>
              <a:rPr sz="1050">
                <a:solidFill>
                  <a:srgbClr val="1A1A1A"/>
                </a:solidFill>
              </a:rPr>
              <a:t>FIPS 203 — ML-KEM · FIPS 204 — ML-DSA · FIPS 205 — SLH-DSA</a:t>
            </a:r>
          </a:p>
          <a:p>
            <a:pPr marL="160020" indent="-160020">
              <a:spcBef>
                <a:spcPts val="0"/>
              </a:spcBef>
              <a:spcAft>
                <a:spcPts val="200"/>
              </a:spcAft>
              <a:buFont typeface="Arial"/>
              <a:buChar char="–"/>
            </a:pPr>
            <a:r>
              <a:rPr sz="1050">
                <a:solidFill>
                  <a:srgbClr val="1A1A1A"/>
                </a:solidFill>
              </a:rPr>
              <a:t>FIPS 202 — SHA-3 and SHAKE · SP 800-208 — LMS</a:t>
            </a:r>
          </a:p>
          <a:p>
            <a:pPr marL="160020" indent="-160020">
              <a:spcBef>
                <a:spcPts val="0"/>
              </a:spcBef>
              <a:spcAft>
                <a:spcPts val="200"/>
              </a:spcAft>
              <a:buFont typeface="Arial"/>
              <a:buChar char="–"/>
            </a:pPr>
            <a:r>
              <a:rPr sz="1050">
                <a:solidFill>
                  <a:srgbClr val="1A1A1A"/>
                </a:solidFill>
              </a:rPr>
              <a:t>NIST IR 8547 — transition to post-quantum cryptography standards</a:t>
            </a:r>
          </a:p>
          <a:p>
            <a:pPr marL="0" indent="0">
              <a:spcBef>
                <a:spcPts val="600"/>
              </a:spcBef>
              <a:spcAft>
                <a:spcPts val="200"/>
              </a:spcAft>
              <a:buNone/>
            </a:pPr>
            <a:r>
              <a:rPr sz="1100" b="1">
                <a:solidFill>
                  <a:srgbClr val="8C1D1D"/>
                </a:solidFill>
              </a:rPr>
              <a:t>Formats and specifications</a:t>
            </a:r>
          </a:p>
          <a:p>
            <a:pPr marL="160020" indent="-160020">
              <a:spcBef>
                <a:spcPts val="0"/>
              </a:spcBef>
              <a:spcAft>
                <a:spcPts val="200"/>
              </a:spcAft>
              <a:buFont typeface="Arial"/>
              <a:buChar char="–"/>
            </a:pPr>
            <a:r>
              <a:rPr sz="1050">
                <a:solidFill>
                  <a:srgbClr val="1A1A1A"/>
                </a:solidFill>
              </a:rPr>
              <a:t>CycloneDX 1.6 (ECMA-424) and CycloneDX 1.7 — cryptographic bill of materials; schemas vendored from the CycloneDX specification repository at pinned commit 0bd48c8</a:t>
            </a:r>
          </a:p>
          <a:p>
            <a:pPr marL="160020" indent="-160020">
              <a:spcBef>
                <a:spcPts val="0"/>
              </a:spcBef>
              <a:spcAft>
                <a:spcPts val="200"/>
              </a:spcAft>
              <a:buFont typeface="Arial"/>
              <a:buChar char="–"/>
            </a:pPr>
            <a:r>
              <a:rPr sz="1050">
                <a:solidFill>
                  <a:srgbClr val="1A1A1A"/>
                </a:solidFill>
              </a:rPr>
              <a:t>RFC 8996 — deprecation of TLS 1.0 and 1.1 · RFC 7693 — BLAKE2 · RFC 8032 — EdDSA · RFC 7748 — X25519 and X448</a:t>
            </a:r>
          </a:p>
          <a:p>
            <a:pPr marL="160020" indent="-160020">
              <a:spcBef>
                <a:spcPts val="0"/>
              </a:spcBef>
              <a:spcAft>
                <a:spcPts val="200"/>
              </a:spcAft>
              <a:buFont typeface="Arial"/>
              <a:buChar char="–"/>
            </a:pPr>
            <a:r>
              <a:rPr sz="1050">
                <a:solidFill>
                  <a:srgbClr val="1A1A1A"/>
                </a:solidFill>
              </a:rPr>
              <a:t>OCI Image Format Specification — image layout and layer whiteouts</a:t>
            </a:r>
          </a:p>
          <a:p>
            <a:pPr marL="0" indent="0">
              <a:spcBef>
                <a:spcPts val="600"/>
              </a:spcBef>
              <a:spcAft>
                <a:spcPts val="200"/>
              </a:spcAft>
              <a:buNone/>
            </a:pPr>
            <a:r>
              <a:rPr sz="1100" b="1">
                <a:solidFill>
                  <a:srgbClr val="8C1D1D"/>
                </a:solidFill>
              </a:rPr>
              <a:t>Method</a:t>
            </a:r>
          </a:p>
          <a:p>
            <a:pPr marL="160020" indent="-160020">
              <a:spcBef>
                <a:spcPts val="0"/>
              </a:spcBef>
              <a:spcAft>
                <a:spcPts val="200"/>
              </a:spcAft>
              <a:buFont typeface="Arial"/>
              <a:buChar char="–"/>
            </a:pPr>
            <a:r>
              <a:rPr sz="1050">
                <a:solidFill>
                  <a:srgbClr val="1A1A1A"/>
                </a:solidFill>
              </a:rPr>
              <a:t>Mosca's inequality (X + Y &gt; Z) for exposure timing; Shor's and Grover's algorithms for the classification split.</a:t>
            </a:r>
          </a:p>
          <a:p>
            <a:pPr marL="0" indent="0">
              <a:spcBef>
                <a:spcPts val="600"/>
              </a:spcBef>
              <a:spcAft>
                <a:spcPts val="200"/>
              </a:spcAft>
              <a:buNone/>
            </a:pPr>
            <a:r>
              <a:rPr sz="1100" b="1">
                <a:solidFill>
                  <a:srgbClr val="8C1D1D"/>
                </a:solidFill>
              </a:rPr>
              <a:t>Project</a:t>
            </a:r>
          </a:p>
          <a:p>
            <a:pPr marL="160020" indent="-160020">
              <a:spcBef>
                <a:spcPts val="0"/>
              </a:spcBef>
              <a:spcAft>
                <a:spcPts val="200"/>
              </a:spcAft>
              <a:buFont typeface="Arial"/>
              <a:buChar char="–"/>
            </a:pPr>
            <a:r>
              <a:rPr sz="1050">
                <a:solidFill>
                  <a:srgbClr val="1A1A1A"/>
                </a:solidFill>
              </a:rPr>
              <a:t>github.com/sgtsujith141-wq/cryptodrishti — source, 664 tests, the labelled corpus and its committed results, the vendored schemas, and the architecture diagram's editable source.</a:t>
            </a:r>
          </a:p>
          <a:p>
            <a:pPr marL="160020" indent="-160020">
              <a:spcBef>
                <a:spcPts val="0"/>
              </a:spcBef>
              <a:spcAft>
                <a:spcPts val="200"/>
              </a:spcAft>
              <a:buFont typeface="Arial"/>
              <a:buChar char="–"/>
            </a:pPr>
            <a:r>
              <a:rPr sz="1050">
                <a:solidFill>
                  <a:srgbClr val="1A1A1A"/>
                </a:solidFill>
              </a:rPr>
              <a:t>Problem statement SIH26164, National Technical Research Organisation (NTRO).</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5-cbom-export" descr="05-cbom-export-190-0-0.5.png"/>
          <p:cNvPicPr>
            <a:picLocks noChangeAspect="1"/>
          </p:cNvPicPr>
          <p:nvPr/>
        </p:nvPicPr>
        <p:blipFill>
          <a:blip r:embed="rId4"/>
          <a:stretch>
            <a:fillRect/>
          </a:stretch>
        </p:blipFill>
        <p:spPr>
          <a:xfrm>
            <a:off x="6355080" y="1152144"/>
            <a:ext cx="5422392" cy="1137505"/>
          </a:xfrm>
          <a:prstGeom prst="rect">
            <a:avLst/>
          </a:prstGeom>
        </p:spPr>
      </p:pic>
      <p:sp>
        <p:nvSpPr>
          <p:cNvPr id="17412" name="cd-caption"/>
          <p:cNvSpPr txBox="1"/>
          <p:nvPr/>
        </p:nvSpPr>
        <p:spPr>
          <a:xfrm>
            <a:off x="6355080" y="2353656"/>
            <a:ext cx="5422392" cy="274320"/>
          </a:xfrm>
          <a:prstGeom prst="rect">
            <a:avLst/>
          </a:prstGeom>
          <a:noFill/>
        </p:spPr>
        <p:txBody>
          <a:bodyPr wrap="square">
            <a:spAutoFit/>
          </a:bodyPr>
          <a:lstStyle/>
          <a:p>
            <a:pPr marL="0" indent="0">
              <a:buNone/>
            </a:pPr>
            <a:r>
              <a:rPr sz="950">
                <a:solidFill>
                  <a:srgbClr val="5A5A5A"/>
                </a:solidFill>
              </a:rPr>
              <a:t>Export and validation are the same screen: checked against the official schema on the spot.</a:t>
            </a:r>
          </a:p>
        </p:txBody>
      </p:sp>
      <p:pic>
        <p:nvPicPr>
          <p:cNvPr id="17413" name="cd-shot-03-migration-plan" descr="03-migration-plan-190-0-0.72.png"/>
          <p:cNvPicPr>
            <a:picLocks noChangeAspect="1"/>
          </p:cNvPicPr>
          <p:nvPr/>
        </p:nvPicPr>
        <p:blipFill>
          <a:blip r:embed="rId5"/>
          <a:stretch>
            <a:fillRect/>
          </a:stretch>
        </p:blipFill>
        <p:spPr>
          <a:xfrm>
            <a:off x="6355080" y="2792569"/>
            <a:ext cx="5422392" cy="1943166"/>
          </a:xfrm>
          <a:prstGeom prst="rect">
            <a:avLst/>
          </a:prstGeom>
        </p:spPr>
      </p:pic>
      <p:sp>
        <p:nvSpPr>
          <p:cNvPr id="17414" name="cd-caption"/>
          <p:cNvSpPr txBox="1"/>
          <p:nvPr/>
        </p:nvSpPr>
        <p:spPr>
          <a:xfrm>
            <a:off x="6355080" y="4799743"/>
            <a:ext cx="5422392" cy="274320"/>
          </a:xfrm>
          <a:prstGeom prst="rect">
            <a:avLst/>
          </a:prstGeom>
          <a:noFill/>
        </p:spPr>
        <p:txBody>
          <a:bodyPr wrap="square">
            <a:spAutoFit/>
          </a:bodyPr>
          <a:lstStyle/>
          <a:p>
            <a:pPr marL="0" indent="0">
              <a:buNone/>
            </a:pPr>
            <a:r>
              <a:rPr sz="950">
                <a:solidFill>
                  <a:srgbClr val="5A5A5A"/>
                </a:solidFill>
              </a:rPr>
              <a:t>The standards on the left, applied — every asset given the target that matches its resolved purpose.</a:t>
            </a:r>
          </a:p>
        </p:txBody>
      </p:sp>
      <p:sp>
        <p:nvSpPr>
          <p:cNvPr id="17415" name="cd-note"/>
          <p:cNvSpPr txBox="1"/>
          <p:nvPr/>
        </p:nvSpPr>
        <p:spPr>
          <a:xfrm>
            <a:off x="6355080" y="5256942"/>
            <a:ext cx="5422392" cy="822960"/>
          </a:xfrm>
          <a:prstGeom prst="rect">
            <a:avLst/>
          </a:prstGeom>
          <a:noFill/>
        </p:spPr>
        <p:txBody>
          <a:bodyPr wrap="square">
            <a:spAutoFit/>
          </a:bodyPr>
          <a:lstStyle/>
          <a:p>
            <a:pPr marL="0" indent="0">
              <a:spcBef>
                <a:spcPts val="0"/>
              </a:spcBef>
              <a:spcAft>
                <a:spcPts val="200"/>
              </a:spcAft>
              <a:buNone/>
            </a:pPr>
            <a:r>
              <a:rPr sz="900" i="1">
                <a:solidFill>
                  <a:srgbClr val="5A5A5A"/>
                </a:solidFill>
              </a:rPr>
              <a:t>Every externally sourced claim in this deck is one of the standards listed here. Nothing is claimed about quantum-computer arrival dates, regulatory deadlines or competing products — Q-Day is treated throughout as an operator-chosen scenario.</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