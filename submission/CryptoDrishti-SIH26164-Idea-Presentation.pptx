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" y="1810512"/>
            <a:ext cx="5897880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>
                <a:solidFill>
                  <a:srgbClr val="9E3A24"/>
                </a:solidFill>
              </a:rPr>
              <a:t>CryptoDrishti</a:t>
            </a:r>
            <a:endParaRPr lang="en-US" dirty="0"/>
          </a:p>
          <a:p>
            <a:pPr marL="0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800" b="0" i="0">
                <a:solidFill>
                  <a:srgbClr val="1A1A1C"/>
                </a:solidFill>
              </a:rPr>
              <a:t>An evidence-driven tool for discovering enterprise cryptography, assessing quantum exposure and planning post-quantum migration.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ID – </a:t>
            </a:r>
            <a:r>
              <a:rPr sz="1600" b="0" i="0">
                <a:solidFill>
                  <a:srgbClr val="3E3E44"/>
                </a:solidFill>
              </a:rPr>
              <a:t>SIH26164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Title – </a:t>
            </a:r>
            <a:r>
              <a:rPr sz="1600" b="0" i="0">
                <a:solidFill>
                  <a:srgbClr val="3E3E44"/>
                </a:solidFill>
              </a:rPr>
              <a:t>Enterprise Cryptographic Discovery &amp; Analysis Tool (ECDAT)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Theme – </a:t>
            </a:r>
            <a:r>
              <a:rPr sz="1600" b="0" i="0">
                <a:solidFill>
                  <a:srgbClr val="3E3E44"/>
                </a:solidFill>
              </a:rPr>
              <a:t>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PS Category – </a:t>
            </a:r>
            <a:r>
              <a:rPr sz="1600" b="0" i="0">
                <a:solidFill>
                  <a:srgbClr val="3E3E44"/>
                </a:solidFill>
              </a:rPr>
              <a:t>Software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ID – </a:t>
            </a:r>
            <a:r>
              <a:rPr sz="1600" b="0" i="0">
                <a:solidFill>
                  <a:srgbClr val="3E3E44"/>
                </a:solidFill>
              </a:rPr>
              <a:t>146876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Name – </a:t>
            </a:r>
            <a:r>
              <a:rPr sz="1600" b="0" i="0">
                <a:solidFill>
                  <a:srgbClr val="3E3E44"/>
                </a:solidFill>
              </a:rPr>
              <a:t>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CryptoDrishti  |  PROPOSED SOLUTION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15362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The problem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0">
                <a:solidFill>
                  <a:srgbClr val="3E3E44"/>
                </a:solidFill>
              </a:rPr>
              <a:t>Cryptographic assets are spread across application code, third-party libraries, configuration, certificates, compiled binaries and container images. Each records cryptography differently, and none of them is a list. Without a reliable inventory, an organisation cannot say which assets need quantum-safe migration, or in what order.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What CryptoDrishti is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3E3E44"/>
                </a:solidFill>
              </a:rPr>
              <a:t>CryptoDrishti discovers cryptographic evidence across those surfaces, normalises it into one inventory, assesses each asset's quantum exposure, and produces evidence-backed migration recommendations and a CycloneDX Cryptography Bill of Materials.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d-right"/>
          <p:cNvSpPr txBox="1"/>
          <p:nvPr/>
        </p:nvSpPr>
        <p:spPr>
          <a:xfrm>
            <a:off x="6400800" y="1097280"/>
            <a:ext cx="5367527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What it does</a:t>
            </a:r>
          </a:p>
          <a:p>
            <a:pPr marL="146050" indent="-146050">
              <a:spcBef>
                <a:spcPts val="0"/>
              </a:spcBef>
              <a:spcAft>
                <a:spcPts val="5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Multi-surface discovery — </a:t>
            </a:r>
            <a:r>
              <a:rPr sz="1500" b="0" i="0">
                <a:solidFill>
                  <a:srgbClr val="3E3E44"/>
                </a:solidFill>
              </a:rPr>
              <a:t>seven sensors: code, dependencies, binaries, certificates, configuration, images, one named TLS endpoint</a:t>
            </a:r>
          </a:p>
          <a:p>
            <a:pPr marL="146050" indent="-146050">
              <a:spcBef>
                <a:spcPts val="0"/>
              </a:spcBef>
              <a:spcAft>
                <a:spcPts val="5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Purpose-aware classification — </a:t>
            </a:r>
            <a:r>
              <a:rPr sz="1500" b="0" i="0">
                <a:solidFill>
                  <a:srgbClr val="3E3E44"/>
                </a:solidFill>
              </a:rPr>
              <a:t>an algorithm is classified by what it is used for, not by its name</a:t>
            </a:r>
          </a:p>
          <a:p>
            <a:pPr marL="146050" indent="-146050">
              <a:spcBef>
                <a:spcPts val="0"/>
              </a:spcBef>
              <a:spcAft>
                <a:spcPts val="5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Evidence assurance — </a:t>
            </a:r>
            <a:r>
              <a:rPr sz="1500" b="0" i="0">
                <a:solidFill>
                  <a:srgbClr val="3E3E44"/>
                </a:solidFill>
              </a:rPr>
              <a:t>capability, declared, used and observed stay distinct grades</a:t>
            </a:r>
          </a:p>
          <a:p>
            <a:pPr marL="146050" indent="-146050">
              <a:spcBef>
                <a:spcPts val="0"/>
              </a:spcBef>
              <a:spcAft>
                <a:spcPts val="5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Per-asset risk prioritisation — </a:t>
            </a:r>
            <a:r>
              <a:rPr sz="1500" b="0" i="0">
                <a:solidFill>
                  <a:srgbClr val="3E3E44"/>
                </a:solidFill>
              </a:rPr>
              <a:t>Mosca's inequality with operator-supplied asset context</a:t>
            </a:r>
          </a:p>
          <a:p>
            <a:pPr marL="146050" indent="-146050">
              <a:spcBef>
                <a:spcPts val="0"/>
              </a:spcBef>
              <a:spcAft>
                <a:spcPts val="5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Standards-conformant export — </a:t>
            </a:r>
            <a:r>
              <a:rPr sz="1500" b="0" i="0">
                <a:solidFill>
                  <a:srgbClr val="3E3E44"/>
                </a:solidFill>
              </a:rPr>
              <a:t>CycloneDX 1.6 / 1.7, validated offline against the official schema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What makes it different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Finding RSA in a library is not observing RSA signing at a call site — capability, declaration, use and observation stay apart.</a:t>
            </a:r>
          </a:p>
        </p:txBody>
      </p:sp>
      <p:sp>
        <p:nvSpPr>
          <p:cNvPr id="15364" name="cd-caption"/>
          <p:cNvSpPr txBox="1"/>
          <p:nvPr/>
        </p:nvSpPr>
        <p:spPr>
          <a:xfrm>
            <a:off x="420624" y="5285231"/>
            <a:ext cx="11347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The implemented pipeline — every stage below exists in the tool.</a:t>
            </a:r>
          </a:p>
        </p:txBody>
      </p:sp>
      <p:sp>
        <p:nvSpPr>
          <p:cNvPr id="15365" name="cd-stage"/>
          <p:cNvSpPr/>
          <p:nvPr/>
        </p:nvSpPr>
        <p:spPr>
          <a:xfrm>
            <a:off x="420624" y="5577840"/>
            <a:ext cx="2727197" cy="585216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cd-panel-edge"/>
          <p:cNvSpPr/>
          <p:nvPr/>
        </p:nvSpPr>
        <p:spPr>
          <a:xfrm>
            <a:off x="420624" y="5577840"/>
            <a:ext cx="38100" cy="58521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cd-stage-text"/>
          <p:cNvSpPr txBox="1"/>
          <p:nvPr/>
        </p:nvSpPr>
        <p:spPr>
          <a:xfrm>
            <a:off x="566928" y="5660136"/>
            <a:ext cx="247116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B3A6B"/>
                </a:solidFill>
              </a:rPr>
              <a:t>DISCOVERY SOURCES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code · deps · binaries · certs · config</a:t>
            </a:r>
          </a:p>
        </p:txBody>
      </p:sp>
      <p:sp>
        <p:nvSpPr>
          <p:cNvPr id="15368" name="cd-stage"/>
          <p:cNvSpPr/>
          <p:nvPr/>
        </p:nvSpPr>
        <p:spPr>
          <a:xfrm>
            <a:off x="3294125" y="5577840"/>
            <a:ext cx="2727197" cy="585216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cd-panel-edge"/>
          <p:cNvSpPr/>
          <p:nvPr/>
        </p:nvSpPr>
        <p:spPr>
          <a:xfrm>
            <a:off x="3294125" y="5577840"/>
            <a:ext cx="38100" cy="58521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cd-stage-text"/>
          <p:cNvSpPr txBox="1"/>
          <p:nvPr/>
        </p:nvSpPr>
        <p:spPr>
          <a:xfrm>
            <a:off x="3440429" y="5660136"/>
            <a:ext cx="247116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B3A6B"/>
                </a:solidFill>
              </a:rPr>
              <a:t>NORMALISED INVENTORY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assets with purpose + assurance</a:t>
            </a:r>
          </a:p>
        </p:txBody>
      </p:sp>
      <p:sp>
        <p:nvSpPr>
          <p:cNvPr id="15371" name="cd-stage"/>
          <p:cNvSpPr/>
          <p:nvPr/>
        </p:nvSpPr>
        <p:spPr>
          <a:xfrm>
            <a:off x="6167627" y="5577840"/>
            <a:ext cx="2727197" cy="585216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cd-panel-edge"/>
          <p:cNvSpPr/>
          <p:nvPr/>
        </p:nvSpPr>
        <p:spPr>
          <a:xfrm>
            <a:off x="6167627" y="5577840"/>
            <a:ext cx="38100" cy="58521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cd-stage-text"/>
          <p:cNvSpPr txBox="1"/>
          <p:nvPr/>
        </p:nvSpPr>
        <p:spPr>
          <a:xfrm>
            <a:off x="6313931" y="5660136"/>
            <a:ext cx="247116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B3A6B"/>
                </a:solidFill>
              </a:rPr>
              <a:t>RISK + MIGRATION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Mosca exposure → matched target</a:t>
            </a:r>
          </a:p>
        </p:txBody>
      </p:sp>
      <p:sp>
        <p:nvSpPr>
          <p:cNvPr id="15374" name="cd-stage"/>
          <p:cNvSpPr/>
          <p:nvPr/>
        </p:nvSpPr>
        <p:spPr>
          <a:xfrm>
            <a:off x="9041130" y="5577840"/>
            <a:ext cx="2727197" cy="585216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cd-panel-edge"/>
          <p:cNvSpPr/>
          <p:nvPr/>
        </p:nvSpPr>
        <p:spPr>
          <a:xfrm>
            <a:off x="9041130" y="5577840"/>
            <a:ext cx="38100" cy="58521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cd-stage-text"/>
          <p:cNvSpPr txBox="1"/>
          <p:nvPr/>
        </p:nvSpPr>
        <p:spPr>
          <a:xfrm>
            <a:off x="9187434" y="5660136"/>
            <a:ext cx="247116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B3A6B"/>
                </a:solidFill>
              </a:rPr>
              <a:t>CBOM + REPORT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CycloneDX 1.6 / 1.7 + HTML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2359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Bef>
                <a:spcPts val="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System architecture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Inputs — a directory, a container image archive, or a named TLS endpoint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Seven sensors return evidence, not verdicts; hits become distinct assets carrying purpose and assurance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Correlation links findings sharing an artefact, never merges them; a 74-algorithm registry classifies each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Mosca X + Y &gt; Z read per purpose, then a named target, a CycloneDX CBOM and a traceable HTML report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impl"/>
          <p:cNvSpPr txBox="1"/>
          <p:nvPr/>
        </p:nvSpPr>
        <p:spPr>
          <a:xfrm>
            <a:off x="6400800" y="1097280"/>
            <a:ext cx="5367527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Technical implementation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Backend / API — </a:t>
            </a:r>
            <a:r>
              <a:rPr sz="1500" b="0" i="0">
                <a:solidFill>
                  <a:srgbClr val="3E3E44"/>
                </a:solidFill>
              </a:rPr>
              <a:t>Python 3.11+, FastAPI, uvicorn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Persistence — </a:t>
            </a:r>
            <a:r>
              <a:rPr sz="1500" b="0" i="0">
                <a:solidFill>
                  <a:srgbClr val="3E3E44"/>
                </a:solidFill>
              </a:rPr>
              <a:t>SQLite (WAL) — scans, findings, overrides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Console — </a:t>
            </a:r>
            <a:r>
              <a:rPr sz="1500" b="0" i="0">
                <a:solidFill>
                  <a:srgbClr val="3E3E44"/>
                </a:solidFill>
              </a:rPr>
              <a:t>vanilla JavaScript, 2,881 lines, no framework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Source scanning — </a:t>
            </a:r>
            <a:r>
              <a:rPr sz="1500" b="0" i="0">
                <a:solidFill>
                  <a:srgbClr val="3E3E44"/>
                </a:solidFill>
              </a:rPr>
              <a:t>Python AST; 60 rules across 7 more languages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Dependencies — </a:t>
            </a:r>
            <a:r>
              <a:rPr sz="1500" b="0" i="0">
                <a:solidFill>
                  <a:srgbClr val="3E3E44"/>
                </a:solidFill>
              </a:rPr>
              <a:t>13 manifest formats, 22 known crypto libraries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Binaries — </a:t>
            </a:r>
            <a:r>
              <a:rPr sz="1500" b="0" i="0">
                <a:solidFill>
                  <a:srgbClr val="3E3E44"/>
                </a:solidFill>
              </a:rPr>
              <a:t>ELF symbols — 72 symbols, 8 constants, 9 banners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Containers — </a:t>
            </a:r>
            <a:r>
              <a:rPr sz="1500" b="0" i="0">
                <a:solidFill>
                  <a:srgbClr val="3E3E44"/>
                </a:solidFill>
              </a:rPr>
              <a:t>OCI, OCI tar, docker-save; layer replay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Export — </a:t>
            </a:r>
            <a:r>
              <a:rPr sz="1500" b="0" i="0">
                <a:solidFill>
                  <a:srgbClr val="3E3E44"/>
                </a:solidFill>
              </a:rPr>
              <a:t>CycloneDX 1.6 / 1.7 with offline schema validation</a:t>
            </a:r>
          </a:p>
        </p:txBody>
      </p:sp>
      <p:sp>
        <p:nvSpPr>
          <p:cNvPr id="17412" name="cd-rsa-head"/>
          <p:cNvSpPr txBox="1"/>
          <p:nvPr/>
        </p:nvSpPr>
        <p:spPr>
          <a:xfrm>
            <a:off x="420624" y="3529584"/>
            <a:ext cx="1134770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One algorithm, three decisions. </a:t>
            </a:r>
            <a:r>
              <a:rPr sz="1800" b="0" i="0">
                <a:solidFill>
                  <a:srgbClr val="3E3E44"/>
                </a:solidFill>
              </a:rPr>
              <a:t>The same RSA, resolved three ways by a single scan.</a:t>
            </a:r>
          </a:p>
        </p:txBody>
      </p:sp>
      <p:sp>
        <p:nvSpPr>
          <p:cNvPr id="17414" name="cd-rsa-col"/>
          <p:cNvSpPr txBox="1"/>
          <p:nvPr/>
        </p:nvSpPr>
        <p:spPr>
          <a:xfrm>
            <a:off x="420624" y="3895344"/>
            <a:ext cx="299923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3636B"/>
                </a:solidFill>
              </a:rPr>
              <a:t>EVIDENCE</a:t>
            </a:r>
          </a:p>
        </p:txBody>
      </p:sp>
      <p:sp>
        <p:nvSpPr>
          <p:cNvPr id="17415" name="cd-rsa-col"/>
          <p:cNvSpPr txBox="1"/>
          <p:nvPr/>
        </p:nvSpPr>
        <p:spPr>
          <a:xfrm>
            <a:off x="3547872" y="3895344"/>
            <a:ext cx="257860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3636B"/>
                </a:solidFill>
              </a:rPr>
              <a:t>WHY THE PURPOSE RESOLVES THAT WAY</a:t>
            </a:r>
          </a:p>
        </p:txBody>
      </p:sp>
      <p:sp>
        <p:nvSpPr>
          <p:cNvPr id="17416" name="cd-rsa-col"/>
          <p:cNvSpPr txBox="1"/>
          <p:nvPr/>
        </p:nvSpPr>
        <p:spPr>
          <a:xfrm>
            <a:off x="6236208" y="3895344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3636B"/>
                </a:solidFill>
              </a:rPr>
              <a:t>RECOMMENDATION</a:t>
            </a:r>
          </a:p>
        </p:txBody>
      </p:sp>
      <p:sp>
        <p:nvSpPr>
          <p:cNvPr id="17417" name="cd-rsa-col"/>
          <p:cNvSpPr txBox="1"/>
          <p:nvPr/>
        </p:nvSpPr>
        <p:spPr>
          <a:xfrm>
            <a:off x="8796528" y="3895344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3636B"/>
                </a:solidFill>
              </a:rPr>
              <a:t>MEANING</a:t>
            </a:r>
          </a:p>
        </p:txBody>
      </p:sp>
      <p:sp>
        <p:nvSpPr>
          <p:cNvPr id="17418" name="cd-rule"/>
          <p:cNvSpPr/>
          <p:nvPr/>
        </p:nvSpPr>
        <p:spPr>
          <a:xfrm>
            <a:off x="420624" y="4123944"/>
            <a:ext cx="11347703" cy="12700"/>
          </a:xfrm>
          <a:prstGeom prst="rect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rsa-ev"/>
          <p:cNvSpPr txBox="1"/>
          <p:nvPr/>
        </p:nvSpPr>
        <p:spPr>
          <a:xfrm>
            <a:off x="420624" y="4206240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Case 1 — RSA signing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svc-payments/signing.py:15   (source · used)</a:t>
            </a:r>
          </a:p>
        </p:txBody>
      </p:sp>
      <p:sp>
        <p:nvSpPr>
          <p:cNvPr id="17420" name="cd-rsa-cell"/>
          <p:cNvSpPr txBox="1"/>
          <p:nvPr/>
        </p:nvSpPr>
        <p:spPr>
          <a:xfrm>
            <a:off x="3547872" y="4261103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RSA-PSS padding signs</a:t>
            </a:r>
          </a:p>
        </p:txBody>
      </p:sp>
      <p:sp>
        <p:nvSpPr>
          <p:cNvPr id="17421" name="cd-rsa-cell"/>
          <p:cNvSpPr txBox="1"/>
          <p:nvPr/>
        </p:nvSpPr>
        <p:spPr>
          <a:xfrm>
            <a:off x="6236208" y="4261103"/>
            <a:ext cx="24323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ML-DSA-65</a:t>
            </a:r>
          </a:p>
        </p:txBody>
      </p:sp>
      <p:sp>
        <p:nvSpPr>
          <p:cNvPr id="17422" name="cd-rsa-cell"/>
          <p:cNvSpPr txBox="1"/>
          <p:nvPr/>
        </p:nvSpPr>
        <p:spPr>
          <a:xfrm>
            <a:off x="8796528" y="4261103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signature-oriented migration</a:t>
            </a:r>
          </a:p>
        </p:txBody>
      </p:sp>
      <p:sp>
        <p:nvSpPr>
          <p:cNvPr id="17423" name="cd-rule"/>
          <p:cNvSpPr/>
          <p:nvPr/>
        </p:nvSpPr>
        <p:spPr>
          <a:xfrm>
            <a:off x="420624" y="4654296"/>
            <a:ext cx="11347703" cy="12700"/>
          </a:xfrm>
          <a:prstGeom prst="rect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cd-rsa-ev"/>
          <p:cNvSpPr txBox="1"/>
          <p:nvPr/>
        </p:nvSpPr>
        <p:spPr>
          <a:xfrm>
            <a:off x="420624" y="4736592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Case 2 — RSA key establishment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svc-gateway/transport.py:16   (source · used)</a:t>
            </a:r>
          </a:p>
        </p:txBody>
      </p:sp>
      <p:sp>
        <p:nvSpPr>
          <p:cNvPr id="17425" name="cd-rsa-cell"/>
          <p:cNvSpPr txBox="1"/>
          <p:nvPr/>
        </p:nvSpPr>
        <p:spPr>
          <a:xfrm>
            <a:off x="3547872" y="4791455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RSA-OAEP padding wraps a key</a:t>
            </a:r>
          </a:p>
        </p:txBody>
      </p:sp>
      <p:sp>
        <p:nvSpPr>
          <p:cNvPr id="17426" name="cd-rsa-cell"/>
          <p:cNvSpPr txBox="1"/>
          <p:nvPr/>
        </p:nvSpPr>
        <p:spPr>
          <a:xfrm>
            <a:off x="6236208" y="4791455"/>
            <a:ext cx="24323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X25519MLKEM768</a:t>
            </a:r>
          </a:p>
        </p:txBody>
      </p:sp>
      <p:sp>
        <p:nvSpPr>
          <p:cNvPr id="17427" name="cd-rsa-cell"/>
          <p:cNvSpPr txBox="1"/>
          <p:nvPr/>
        </p:nvSpPr>
        <p:spPr>
          <a:xfrm>
            <a:off x="8796528" y="4791455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key-establishment migration</a:t>
            </a:r>
          </a:p>
        </p:txBody>
      </p:sp>
      <p:sp>
        <p:nvSpPr>
          <p:cNvPr id="17428" name="cd-rule"/>
          <p:cNvSpPr/>
          <p:nvPr/>
        </p:nvSpPr>
        <p:spPr>
          <a:xfrm>
            <a:off x="420624" y="5184648"/>
            <a:ext cx="11347703" cy="12700"/>
          </a:xfrm>
          <a:prstGeom prst="rect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cd-rsa-ev"/>
          <p:cNvSpPr txBox="1"/>
          <p:nvPr/>
        </p:nvSpPr>
        <p:spPr>
          <a:xfrm>
            <a:off x="420624" y="5266944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Case 3 — RSA, unresolved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63636B"/>
                </a:solidFill>
              </a:rPr>
              <a:t>legacy/nginx.conf:5   (config · declared)</a:t>
            </a:r>
          </a:p>
        </p:txBody>
      </p:sp>
      <p:sp>
        <p:nvSpPr>
          <p:cNvPr id="17430" name="cd-rsa-cell"/>
          <p:cNvSpPr txBox="1"/>
          <p:nvPr/>
        </p:nvSpPr>
        <p:spPr>
          <a:xfrm>
            <a:off x="3547872" y="5321807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a cipher list permits RSA, purpose unstated</a:t>
            </a:r>
          </a:p>
        </p:txBody>
      </p:sp>
      <p:sp>
        <p:nvSpPr>
          <p:cNvPr id="17431" name="cd-rsa-cell"/>
          <p:cNvSpPr txBox="1"/>
          <p:nvPr/>
        </p:nvSpPr>
        <p:spPr>
          <a:xfrm>
            <a:off x="6236208" y="5321807"/>
            <a:ext cx="24323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1">
                <a:solidFill>
                  <a:srgbClr val="63636B"/>
                </a:solidFill>
              </a:rPr>
              <a:t>Purpose must be resolved first</a:t>
            </a:r>
          </a:p>
        </p:txBody>
      </p:sp>
      <p:sp>
        <p:nvSpPr>
          <p:cNvPr id="17432" name="cd-rsa-cell"/>
          <p:cNvSpPr txBox="1"/>
          <p:nvPr/>
        </p:nvSpPr>
        <p:spPr>
          <a:xfrm>
            <a:off x="8796528" y="5321807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further evidence required</a:t>
            </a:r>
          </a:p>
        </p:txBody>
      </p:sp>
      <p:sp>
        <p:nvSpPr>
          <p:cNvPr id="17433" name="cd-security"/>
          <p:cNvSpPr txBox="1"/>
          <p:nvPr/>
        </p:nvSpPr>
        <p:spPr>
          <a:xfrm>
            <a:off x="420624" y="5760720"/>
            <a:ext cx="113477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Security design — </a:t>
            </a:r>
            <a:r>
              <a:rPr sz="1300" b="0" i="0">
                <a:solidFill>
                  <a:srgbClr val="63636B"/>
                </a:solidFill>
              </a:rPr>
              <a:t>operator-named targets only, every resolved address vetted first; local-first with nothing written to disk; partial scans disclosed and exported evidence redacted.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6510528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2100" b="1" i="0">
                <a:solidFill>
                  <a:srgbClr val="9E3A24"/>
                </a:solidFill>
              </a:rPr>
              <a:t>Implemented prototype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Seven scanning surfaces, each returning evidence with a location, a technique and a confidence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An inventory of distinct assets, carrying purpose and assurance on every one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A quantum-risk model taking operator-supplied shelf life, criticality and constraints, saved per asset and surviving a rescan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Interactive investigation: filters, an evidence drawer, scan history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0" i="0">
                <a:solidFill>
                  <a:srgbClr val="3E3E44"/>
                </a:solidFill>
              </a:rPr>
              <a:t>CycloneDX 1.6 / 1.7 export and a self-contained HTML report reaching every finding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Validation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664 automated tests — </a:t>
            </a:r>
            <a:r>
              <a:rPr sz="1500" b="0" i="0">
                <a:solidFill>
                  <a:srgbClr val="3E3E44"/>
                </a:solidFill>
              </a:rPr>
              <a:t>on Python 3.11, 3.12 and 3.13 in CI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Official schema validation — </a:t>
            </a:r>
            <a:r>
              <a:rPr sz="1500" b="0" i="0">
                <a:solidFill>
                  <a:srgbClr val="3E3E44"/>
                </a:solidFill>
              </a:rPr>
              <a:t>every CBOM checked offline against the CycloneDX schemas at pinned commit 0bd48c8; CI fails on a violation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Hand-labelled benchmark — </a:t>
            </a:r>
            <a:r>
              <a:rPr sz="1500" b="0" i="0">
                <a:solidFill>
                  <a:srgbClr val="3E3E44"/>
                </a:solidFill>
              </a:rPr>
              <a:t>116 findings over six scanners, labelled from the fixtures, not from the tool's output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500" b="1" i="0">
                <a:solidFill>
                  <a:srgbClr val="1A1A1C"/>
                </a:solidFill>
              </a:rPr>
              <a:t>A test per defect found — </a:t>
            </a:r>
            <a:r>
              <a:rPr sz="1500" b="0" i="0">
                <a:solidFill>
                  <a:srgbClr val="3E3E44"/>
                </a:solidFill>
              </a:rPr>
              <a:t>the benchmark caught seven detector defects code review had missed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cd-shot-01-assessment-0.30" descr="01-assessment-0.300-0.115-0.990-0.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1133856"/>
            <a:ext cx="4489703" cy="2481152"/>
          </a:xfrm>
          <a:prstGeom prst="rect">
            <a:avLst/>
          </a:prstGeom>
        </p:spPr>
      </p:pic>
      <p:sp>
        <p:nvSpPr>
          <p:cNvPr id="17412" name="cd-caption"/>
          <p:cNvSpPr txBox="1"/>
          <p:nvPr/>
        </p:nvSpPr>
        <p:spPr>
          <a:xfrm>
            <a:off x="7278624" y="3715592"/>
            <a:ext cx="4489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Live console, demo estate — the partial-scan warning names the refused endpoint, above the real counts.</a:t>
            </a:r>
          </a:p>
        </p:txBody>
      </p:sp>
      <p:sp>
        <p:nvSpPr>
          <p:cNvPr id="17413" name="cd-feas"/>
          <p:cNvSpPr txBox="1"/>
          <p:nvPr/>
        </p:nvSpPr>
        <p:spPr>
          <a:xfrm>
            <a:off x="7278624" y="4224528"/>
            <a:ext cx="4489703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>
                <a:solidFill>
                  <a:srgbClr val="1A1A1C"/>
                </a:solidFill>
              </a:rPr>
              <a:t>Why deployment is feasible — </a:t>
            </a:r>
            <a:r>
              <a:rPr sz="1500" b="0" i="0">
                <a:solidFill>
                  <a:srgbClr val="3E3E44"/>
                </a:solidFill>
              </a:rPr>
              <a:t>The tool is local-first: one machine, loopback by default, no cloud service, and it validates its own output offline. Committed demo fixtures reproduce every figure in this deck with one command.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Current limits — </a:t>
            </a:r>
            <a:r>
              <a:rPr sz="1300" b="0" i="0">
                <a:solidFill>
                  <a:srgbClr val="63636B"/>
                </a:solidFill>
              </a:rPr>
              <a:t>Full AST analysis is Python only; seven further languages use rule packs, and Rust and Swift are recognised but effectively uncovered. Binary parsing is ELF only. No KMS, HSM, cloud or Kubernetes integration. A working prototype, not a deployed product.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60350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2100" b="1" i="0">
                <a:solidFill>
                  <a:srgbClr val="9E3A24"/>
                </a:solidFill>
              </a:rPr>
              <a:t>How a migration team actually uses the output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1B3A6B"/>
                </a:solidFill>
              </a:rPr>
              <a:t>DISCOVER  </a:t>
            </a:r>
            <a:r>
              <a:rPr sz="1600" b="0" i="0">
                <a:solidFill>
                  <a:srgbClr val="3E3E44"/>
                </a:solidFill>
              </a:rPr>
              <a:t>Build an inventory of the cryptographic assets present across the supported surfaces.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1B3A6B"/>
                </a:solidFill>
              </a:rPr>
              <a:t>UNDERSTAND  </a:t>
            </a:r>
            <a:r>
              <a:rPr sz="1600" b="0" i="0">
                <a:solidFill>
                  <a:srgbClr val="3E3E44"/>
                </a:solidFill>
              </a:rPr>
              <a:t>For each asset: the algorithm, the purpose it serves, how strong the evidence is, and exactly where it lives.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1B3A6B"/>
                </a:solidFill>
              </a:rPr>
              <a:t>PRIORITISE  </a:t>
            </a:r>
            <a:r>
              <a:rPr sz="1600" b="0" i="0">
                <a:solidFill>
                  <a:srgbClr val="3E3E44"/>
                </a:solidFill>
              </a:rPr>
              <a:t>Assess quantum exposure with documented assumptions and operator-supplied asset context, so the order of work is defensible.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1B3A6B"/>
                </a:solidFill>
              </a:rPr>
              <a:t>PLAN  </a:t>
            </a:r>
            <a:r>
              <a:rPr sz="1600" b="0" i="0">
                <a:solidFill>
                  <a:srgbClr val="3E3E44"/>
                </a:solidFill>
              </a:rPr>
              <a:t>Attach a purpose-appropriate migration target — or record that more evidence is needed before one can be chosen.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sz="1600" b="1" i="0">
                <a:solidFill>
                  <a:srgbClr val="1B3A6B"/>
                </a:solidFill>
              </a:rPr>
              <a:t>EXPORT  </a:t>
            </a:r>
            <a:r>
              <a:rPr sz="1600" b="0" i="0">
                <a:solidFill>
                  <a:srgbClr val="3E3E44"/>
                </a:solidFill>
              </a:rPr>
              <a:t>Produce a schema-validated CBOM and a traceable report that another team or tool can consume.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Intended users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Intended for security engineering teams, cryptographic inventory and migration-planning teams, and infrastructure operators. These are intended users; the tool has not been deployed in production.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bench-head"/>
          <p:cNvSpPr txBox="1"/>
          <p:nvPr/>
        </p:nvSpPr>
        <p:spPr>
          <a:xfrm>
            <a:off x="6876288" y="10972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100" b="1" i="0">
                <a:solidFill>
                  <a:srgbClr val="9E3A24"/>
                </a:solidFill>
              </a:rPr>
              <a:t>Benchmark evidence</a:t>
            </a:r>
          </a:p>
        </p:txBody>
      </p:sp>
      <p:sp>
        <p:nvSpPr>
          <p:cNvPr id="17412" name="cd-bench-a"/>
          <p:cNvSpPr/>
          <p:nvPr/>
        </p:nvSpPr>
        <p:spPr>
          <a:xfrm>
            <a:off x="6876288" y="1517904"/>
            <a:ext cx="4892040" cy="1152144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panel-edge"/>
          <p:cNvSpPr/>
          <p:nvPr/>
        </p:nvSpPr>
        <p:spPr>
          <a:xfrm>
            <a:off x="6876288" y="1517904"/>
            <a:ext cx="38100" cy="115214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bench-at"/>
          <p:cNvSpPr txBox="1"/>
          <p:nvPr/>
        </p:nvSpPr>
        <p:spPr>
          <a:xfrm>
            <a:off x="7040879" y="1636776"/>
            <a:ext cx="4581144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A1A1C"/>
                </a:solidFill>
              </a:rPr>
              <a:t>Like-for-like: the same corpus, before and after</a:t>
            </a:r>
          </a:p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3E3E44"/>
                </a:solidFill>
              </a:rPr>
              <a:t>Baseline: </a:t>
            </a:r>
            <a:r>
              <a:rPr sz="1500" b="0" i="0">
                <a:solidFill>
                  <a:srgbClr val="3E3E44"/>
                </a:solidFill>
              </a:rPr>
              <a:t>79 TP · 5 FP · 5 FN   </a:t>
            </a:r>
            <a:r>
              <a:rPr sz="1500" b="1" i="0">
                <a:solidFill>
                  <a:srgbClr val="9E3A24"/>
                </a:solidFill>
              </a:rPr>
              <a:t>F1 0.941</a:t>
            </a:r>
          </a:p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3E3E44"/>
                </a:solidFill>
              </a:rPr>
              <a:t>After detector fixes: </a:t>
            </a:r>
            <a:r>
              <a:rPr sz="1500" b="0" i="0">
                <a:solidFill>
                  <a:srgbClr val="3E3E44"/>
                </a:solidFill>
              </a:rPr>
              <a:t>84 TP · 3 FP · 0 FN   </a:t>
            </a:r>
            <a:r>
              <a:rPr sz="1500" b="1" i="0">
                <a:solidFill>
                  <a:srgbClr val="9E3A24"/>
                </a:solidFill>
              </a:rPr>
              <a:t>F1 0.983</a:t>
            </a:r>
          </a:p>
        </p:txBody>
      </p:sp>
      <p:sp>
        <p:nvSpPr>
          <p:cNvPr id="17415" name="cd-bench-b"/>
          <p:cNvSpPr/>
          <p:nvPr/>
        </p:nvSpPr>
        <p:spPr>
          <a:xfrm>
            <a:off x="6876288" y="2834639"/>
            <a:ext cx="4892040" cy="841248"/>
          </a:xfrm>
          <a:prstGeom prst="rect">
            <a:avLst/>
          </a:prstGeom>
          <a:solidFill>
            <a:srgbClr val="F4F2EE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panel-edge"/>
          <p:cNvSpPr/>
          <p:nvPr/>
        </p:nvSpPr>
        <p:spPr>
          <a:xfrm>
            <a:off x="6876288" y="2834639"/>
            <a:ext cx="38100" cy="84124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bench-bt"/>
          <p:cNvSpPr txBox="1"/>
          <p:nvPr/>
        </p:nvSpPr>
        <p:spPr>
          <a:xfrm>
            <a:off x="7040879" y="2953511"/>
            <a:ext cx="458114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A1A1C"/>
                </a:solidFill>
              </a:rPr>
              <a:t>Expanded synthetic corpus, six scanners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116 TP · 0 FP · 0 FN   </a:t>
            </a:r>
            <a:r>
              <a:rPr sz="1500" b="1" i="0">
                <a:solidFill>
                  <a:srgbClr val="9E3A24"/>
                </a:solidFill>
              </a:rPr>
              <a:t>F1 1.000</a:t>
            </a:r>
          </a:p>
        </p:txBody>
      </p:sp>
      <p:sp>
        <p:nvSpPr>
          <p:cNvPr id="17418" name="cd-bench-caveat"/>
          <p:cNvSpPr txBox="1"/>
          <p:nvPr/>
        </p:nvSpPr>
        <p:spPr>
          <a:xfrm>
            <a:off x="6876288" y="3822191"/>
            <a:ext cx="4892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Both corpora were created by the developers of this tool. These figures measure those corpora and nothing else — they are NOT an estimate of real-world enterprise accuracy, which has not been measured. The two experiments are not comparable to each other: the expanded corpus covers three scanners the original did not exercise.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600" b="1" i="0">
                <a:solidFill>
                  <a:srgbClr val="9E3A24"/>
                </a:solidFill>
              </a:rPr>
              <a:t>Cryptography standards informing classification and migration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203 — Module-Lattice-Based Key-Encapsulation Mechanism (ML-KEM). NIST, 2024. doi.org/10.6028/NIST.FIPS.203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204 — Module-Lattice-Based Digital Signature Standard (ML-DSA). NIST, 2024. doi.org/10.6028/NIST.FIPS.204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205 — Stateless Hash-Based Digital Signature Standard (SLH-DSA). NIST, 2024. doi.org/10.6028/NIST.FIPS.205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NIST IR 8547 (initial public draft) — Transition to Post-Quantum Cryptography Standards. NIST, 2024.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Risk methodology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M. Mosca, “Cybersecurity in an Era with Quantum Computers: Will We Be Ready?”, IEEE Security &amp; Privacy, vol. 16, no. 5, 2018 — the source of the X + Y &gt; Z inequality used by the risk model.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P. W. Shor, “Polynomial-Time Algorithms for Prime Factorization and Discrete Logarithms on a Quantum Computer”, SIAM J. Computing, 1997.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L. K. Grover, “A fast quantum mechanical algorithm for database search”, STOC 1996 — the basis for the symmetric-key margin.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refs-right"/>
          <p:cNvSpPr txBox="1"/>
          <p:nvPr/>
        </p:nvSpPr>
        <p:spPr>
          <a:xfrm>
            <a:off x="6400800" y="1097280"/>
            <a:ext cx="5367527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CBOM and container formats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v1.6, standardised as ECMA-424 (1st edition, June 2024) — cyclonedx.org/specification/overview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v1.7 JSON Schema. Both schemas vendored in this repository at pinned commit 0bd48c8 and checksummed.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OCI Image Format Specification — image layout, manifests and layer whiteouts. github.com/opencontainers/image-spec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RFC 8996 — Deprecating TLS 1.0 and TLS 1.1. rfc-editor.org/rfc/rfc8996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Problem statement and repository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Smart India Hackathon 2026, Problem Statement SIH26164 — Enterprise Cryptographic Discovery &amp; Analysis Tool (ECDAT), National Technical Research Organisation (NTRO).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Source, 664 tests, the labelled benchmark corpus and its committed results, and the vendored schemas: github.com/sgtsujith141-wq/cryptodrishti</a:t>
            </a:r>
          </a:p>
        </p:txBody>
      </p:sp>
      <p:sp>
        <p:nvSpPr>
          <p:cNvPr id="17412" name="cd-ref-note"/>
          <p:cNvSpPr txBox="1"/>
          <p:nvPr/>
        </p:nvSpPr>
        <p:spPr>
          <a:xfrm>
            <a:off x="420624" y="5742432"/>
            <a:ext cx="11347703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Scope of these references — </a:t>
            </a:r>
            <a:r>
              <a:rPr sz="1300" b="0" i="0">
                <a:solidFill>
                  <a:srgbClr val="63636B"/>
                </a:solidFill>
              </a:rPr>
              <a:t>CryptoDrishti discovers, classifies, assesses and recommends cryptography. It does not implement the post-quantum primitives above; it uses them as the standards that inform classification and migration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