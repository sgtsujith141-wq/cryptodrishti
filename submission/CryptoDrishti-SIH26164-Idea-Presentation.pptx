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0624" y="1810512"/>
            <a:ext cx="5897880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>
                <a:solidFill>
                  <a:srgbClr val="9E3A24"/>
                </a:solidFill>
              </a:rPr>
              <a:t>CryptoDrishti</a:t>
            </a:r>
            <a:endParaRPr lang="en-US" dirty="0"/>
          </a:p>
          <a:p>
            <a:pPr marL="0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800" b="0" i="0">
                <a:solidFill>
                  <a:srgbClr val="1A1A1C"/>
                </a:solidFill>
              </a:rPr>
              <a:t>An evidence-driven tool for discovering enterprise cryptography, assessing quantum exposure and planning post-quantum migration.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ID – </a:t>
            </a:r>
            <a:r>
              <a:rPr sz="1600" b="0" i="0">
                <a:solidFill>
                  <a:srgbClr val="3E3E44"/>
                </a:solidFill>
              </a:rPr>
              <a:t>SIH26164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Title – </a:t>
            </a:r>
            <a:r>
              <a:rPr sz="1600" b="0" i="0">
                <a:solidFill>
                  <a:srgbClr val="3E3E44"/>
                </a:solidFill>
              </a:rPr>
              <a:t>Enterprise Cryptographic Discovery &amp; Analysis Tool (ECDAT)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Theme – </a:t>
            </a:r>
            <a:r>
              <a:rPr sz="1600" b="0" i="0">
                <a:solidFill>
                  <a:srgbClr val="3E3E44"/>
                </a:solidFill>
              </a:rPr>
              <a:t>26164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PS Category – </a:t>
            </a:r>
            <a:r>
              <a:rPr sz="1600" b="0" i="0">
                <a:solidFill>
                  <a:srgbClr val="3E3E44"/>
                </a:solidFill>
              </a:rPr>
              <a:t>Software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ID – </a:t>
            </a:r>
            <a:r>
              <a:rPr sz="1600" b="0" i="0">
                <a:solidFill>
                  <a:srgbClr val="3E3E44"/>
                </a:solidFill>
              </a:rPr>
              <a:t>146876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Name – </a:t>
            </a:r>
            <a:r>
              <a:rPr sz="1600" b="0" i="0">
                <a:solidFill>
                  <a:srgbClr val="3E3E44"/>
                </a:solidFill>
              </a:rPr>
              <a:t>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CryptoDrishti  |  PROPOSED SOLUTION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15362" name="cd-body"/>
          <p:cNvSpPr txBox="1">
            <a:spLocks noChangeArrowheads="1"/>
          </p:cNvSpPr>
          <p:nvPr/>
        </p:nvSpPr>
        <p:spPr bwMode="auto">
          <a:xfrm>
            <a:off x="420624" y="1097280"/>
            <a:ext cx="4992624" cy="484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The problem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Cryptographic assets are spread across application code, third-party libraries, configuration, certificates, compiled binaries and container images. Each records cryptography differently, and none of them is a list. Without a reliable inventory, an organisation cannot say which assets need quantum-safe migration, or in what order.</a:t>
            </a:r>
          </a:p>
          <a:p>
            <a:pPr marL="0" indent="0">
              <a:spcBef>
                <a:spcPts val="70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What CryptoDrishti does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CryptoDrishti discovers cryptographic evidence across those surfaces, normalises it into one inventory, assesses each asset's quantum exposure, and produces evidence-backed migration recommendations and a CycloneDX Cryptography Bill of Materials.</a:t>
            </a:r>
          </a:p>
          <a:p>
            <a:pPr marL="0" indent="0">
              <a:spcBef>
                <a:spcPts val="70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Why it is different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Finding RSA in a library is not observing RSA signing at a call site — capability, declaration, use and observation stay apart.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cd-diag-eyebrow"/>
          <p:cNvSpPr txBox="1"/>
          <p:nvPr/>
        </p:nvSpPr>
        <p:spPr>
          <a:xfrm>
            <a:off x="5687568" y="1078992"/>
            <a:ext cx="608075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63636B"/>
                </a:solidFill>
              </a:rPr>
              <a:t>WHERE THE EVIDENCE COMES FROM</a:t>
            </a:r>
          </a:p>
        </p:txBody>
      </p:sp>
      <p:sp>
        <p:nvSpPr>
          <p:cNvPr id="15364" name="cd-surface"/>
          <p:cNvSpPr/>
          <p:nvPr/>
        </p:nvSpPr>
        <p:spPr>
          <a:xfrm>
            <a:off x="5687568" y="1353312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Source code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Python AST + rule packs</a:t>
            </a:r>
          </a:p>
        </p:txBody>
      </p:sp>
      <p:sp>
        <p:nvSpPr>
          <p:cNvPr id="15365" name="cd-surface"/>
          <p:cNvSpPr/>
          <p:nvPr/>
        </p:nvSpPr>
        <p:spPr>
          <a:xfrm>
            <a:off x="8828532" y="1353312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Dependencies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13 manifest formats</a:t>
            </a:r>
          </a:p>
        </p:txBody>
      </p:sp>
      <p:sp>
        <p:nvSpPr>
          <p:cNvPr id="15366" name="cd-surface"/>
          <p:cNvSpPr/>
          <p:nvPr/>
        </p:nvSpPr>
        <p:spPr>
          <a:xfrm>
            <a:off x="5687568" y="2002536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Binaries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ELF symbols, constants</a:t>
            </a:r>
          </a:p>
        </p:txBody>
      </p:sp>
      <p:sp>
        <p:nvSpPr>
          <p:cNvPr id="15367" name="cd-surface"/>
          <p:cNvSpPr/>
          <p:nvPr/>
        </p:nvSpPr>
        <p:spPr>
          <a:xfrm>
            <a:off x="8828532" y="2002536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Configuration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nginx · sshd · OpenSSL</a:t>
            </a:r>
          </a:p>
        </p:txBody>
      </p:sp>
      <p:sp>
        <p:nvSpPr>
          <p:cNvPr id="15368" name="cd-surface"/>
          <p:cNvSpPr/>
          <p:nvPr/>
        </p:nvSpPr>
        <p:spPr>
          <a:xfrm>
            <a:off x="5687568" y="2651760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Certificates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X.509 · PEM/DER</a:t>
            </a:r>
          </a:p>
        </p:txBody>
      </p:sp>
      <p:sp>
        <p:nvSpPr>
          <p:cNvPr id="15369" name="cd-surface"/>
          <p:cNvSpPr/>
          <p:nvPr/>
        </p:nvSpPr>
        <p:spPr>
          <a:xfrm>
            <a:off x="8828532" y="2651760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Containers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OCI · docker save</a:t>
            </a:r>
          </a:p>
        </p:txBody>
      </p:sp>
      <p:sp>
        <p:nvSpPr>
          <p:cNvPr id="15370" name="cd-caret"/>
          <p:cNvSpPr/>
          <p:nvPr/>
        </p:nvSpPr>
        <p:spPr>
          <a:xfrm>
            <a:off x="8645652" y="3236975"/>
            <a:ext cx="118872" cy="136702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cd-band"/>
          <p:cNvSpPr/>
          <p:nvPr/>
        </p:nvSpPr>
        <p:spPr>
          <a:xfrm>
            <a:off x="5687568" y="3474719"/>
            <a:ext cx="6080759" cy="566928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</a:rPr>
              <a:t>CRYPTODRISHTI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D8DEEA"/>
                </a:solidFill>
              </a:rPr>
              <a:t>normalise → correlate → classify → score</a:t>
            </a:r>
          </a:p>
        </p:txBody>
      </p:sp>
      <p:sp>
        <p:nvSpPr>
          <p:cNvPr id="15372" name="cd-caret"/>
          <p:cNvSpPr/>
          <p:nvPr/>
        </p:nvSpPr>
        <p:spPr>
          <a:xfrm>
            <a:off x="8645652" y="4114800"/>
            <a:ext cx="118872" cy="136702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cd-out"/>
          <p:cNvSpPr/>
          <p:nvPr/>
        </p:nvSpPr>
        <p:spPr>
          <a:xfrm>
            <a:off x="5687568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INVENTORY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distinct assets</a:t>
            </a:r>
          </a:p>
        </p:txBody>
      </p:sp>
      <p:sp>
        <p:nvSpPr>
          <p:cNvPr id="15374" name="cd-chip-edge"/>
          <p:cNvSpPr/>
          <p:nvPr/>
        </p:nvSpPr>
        <p:spPr>
          <a:xfrm>
            <a:off x="5687568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cd-out"/>
          <p:cNvSpPr/>
          <p:nvPr/>
        </p:nvSpPr>
        <p:spPr>
          <a:xfrm>
            <a:off x="7248905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RISK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Mosca exposure</a:t>
            </a:r>
          </a:p>
        </p:txBody>
      </p:sp>
      <p:sp>
        <p:nvSpPr>
          <p:cNvPr id="15376" name="cd-chip-edge"/>
          <p:cNvSpPr/>
          <p:nvPr/>
        </p:nvSpPr>
        <p:spPr>
          <a:xfrm>
            <a:off x="7248905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cd-out"/>
          <p:cNvSpPr/>
          <p:nvPr/>
        </p:nvSpPr>
        <p:spPr>
          <a:xfrm>
            <a:off x="8810244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MIGRATION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named target</a:t>
            </a:r>
          </a:p>
        </p:txBody>
      </p:sp>
      <p:sp>
        <p:nvSpPr>
          <p:cNvPr id="15378" name="cd-chip-edge"/>
          <p:cNvSpPr/>
          <p:nvPr/>
        </p:nvSpPr>
        <p:spPr>
          <a:xfrm>
            <a:off x="8810244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cd-out"/>
          <p:cNvSpPr/>
          <p:nvPr/>
        </p:nvSpPr>
        <p:spPr>
          <a:xfrm>
            <a:off x="10371582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CBOM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CycloneDX 1.6/1.7</a:t>
            </a:r>
          </a:p>
        </p:txBody>
      </p:sp>
      <p:sp>
        <p:nvSpPr>
          <p:cNvPr id="15380" name="cd-chip-edge"/>
          <p:cNvSpPr/>
          <p:nvPr/>
        </p:nvSpPr>
        <p:spPr>
          <a:xfrm>
            <a:off x="10371582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cd-tls-note"/>
          <p:cNvSpPr txBox="1"/>
          <p:nvPr/>
        </p:nvSpPr>
        <p:spPr>
          <a:xfrm>
            <a:off x="5687568" y="5010912"/>
            <a:ext cx="608075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A seventh sensor completes a live TLS handshake — only against an endpoint the operator names, and only after the destination policy vets every resolved address.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3767328" cy="3108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Bef>
                <a:spcPts val="0"/>
              </a:spcBef>
              <a:spcAft>
                <a:spcPts val="50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How a finding is processed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step"/>
          <p:cNvSpPr/>
          <p:nvPr/>
        </p:nvSpPr>
        <p:spPr>
          <a:xfrm>
            <a:off x="420624" y="1481328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Scanner evidence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file, line, symbol, technique, confidence</a:t>
            </a:r>
          </a:p>
        </p:txBody>
      </p:sp>
      <p:sp>
        <p:nvSpPr>
          <p:cNvPr id="17412" name="cd-chip-edge"/>
          <p:cNvSpPr/>
          <p:nvPr/>
        </p:nvSpPr>
        <p:spPr>
          <a:xfrm>
            <a:off x="420624" y="1481328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caret"/>
          <p:cNvSpPr/>
          <p:nvPr/>
        </p:nvSpPr>
        <p:spPr>
          <a:xfrm>
            <a:off x="2253996" y="1967788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step"/>
          <p:cNvSpPr/>
          <p:nvPr/>
        </p:nvSpPr>
        <p:spPr>
          <a:xfrm>
            <a:off x="420624" y="2093976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Normalisation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hits become one distinct asset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420624" y="2093976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caret"/>
          <p:cNvSpPr/>
          <p:nvPr/>
        </p:nvSpPr>
        <p:spPr>
          <a:xfrm>
            <a:off x="2253996" y="2580436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step"/>
          <p:cNvSpPr/>
          <p:nvPr/>
        </p:nvSpPr>
        <p:spPr>
          <a:xfrm>
            <a:off x="420624" y="2706624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Purpose + assurance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what it is for; how strong the proof is</a:t>
            </a:r>
          </a:p>
        </p:txBody>
      </p:sp>
      <p:sp>
        <p:nvSpPr>
          <p:cNvPr id="17418" name="cd-chip-edge"/>
          <p:cNvSpPr/>
          <p:nvPr/>
        </p:nvSpPr>
        <p:spPr>
          <a:xfrm>
            <a:off x="420624" y="2706624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caret"/>
          <p:cNvSpPr/>
          <p:nvPr/>
        </p:nvSpPr>
        <p:spPr>
          <a:xfrm>
            <a:off x="2253996" y="3193084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cd-step"/>
          <p:cNvSpPr/>
          <p:nvPr/>
        </p:nvSpPr>
        <p:spPr>
          <a:xfrm>
            <a:off x="420624" y="3319272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Risk assessment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Mosca X + Y &gt; Z, per purpose</a:t>
            </a:r>
          </a:p>
        </p:txBody>
      </p:sp>
      <p:sp>
        <p:nvSpPr>
          <p:cNvPr id="17421" name="cd-chip-edge"/>
          <p:cNvSpPr/>
          <p:nvPr/>
        </p:nvSpPr>
        <p:spPr>
          <a:xfrm>
            <a:off x="420624" y="3319272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d-caret"/>
          <p:cNvSpPr/>
          <p:nvPr/>
        </p:nvSpPr>
        <p:spPr>
          <a:xfrm>
            <a:off x="2253996" y="3805732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cd-step"/>
          <p:cNvSpPr/>
          <p:nvPr/>
        </p:nvSpPr>
        <p:spPr>
          <a:xfrm>
            <a:off x="420624" y="3931920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Migration decision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a named target — or none</a:t>
            </a:r>
          </a:p>
        </p:txBody>
      </p:sp>
      <p:sp>
        <p:nvSpPr>
          <p:cNvPr id="17424" name="cd-chip-edge"/>
          <p:cNvSpPr/>
          <p:nvPr/>
        </p:nvSpPr>
        <p:spPr>
          <a:xfrm>
            <a:off x="420624" y="3931920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cd-caret"/>
          <p:cNvSpPr/>
          <p:nvPr/>
        </p:nvSpPr>
        <p:spPr>
          <a:xfrm>
            <a:off x="2253996" y="4418380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cd-step"/>
          <p:cNvSpPr/>
          <p:nvPr/>
        </p:nvSpPr>
        <p:spPr>
          <a:xfrm>
            <a:off x="420624" y="4544568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CBOM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CycloneDX, schema-validated</a:t>
            </a:r>
          </a:p>
        </p:txBody>
      </p:sp>
      <p:sp>
        <p:nvSpPr>
          <p:cNvPr id="17427" name="cd-chip-edge"/>
          <p:cNvSpPr/>
          <p:nvPr/>
        </p:nvSpPr>
        <p:spPr>
          <a:xfrm>
            <a:off x="420624" y="4544568"/>
            <a:ext cx="40640" cy="47548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d-rsa-eyebrow"/>
          <p:cNvSpPr txBox="1"/>
          <p:nvPr/>
        </p:nvSpPr>
        <p:spPr>
          <a:xfrm>
            <a:off x="4498848" y="1078992"/>
            <a:ext cx="726947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63636B"/>
                </a:solidFill>
              </a:rPr>
              <a:t>ONE ALGORITHM · THREE PURPOSE STATES · THREE DECISIONS</a:t>
            </a:r>
          </a:p>
        </p:txBody>
      </p:sp>
      <p:sp>
        <p:nvSpPr>
          <p:cNvPr id="17429" name="cd-rsa-lede"/>
          <p:cNvSpPr txBox="1"/>
          <p:nvPr/>
        </p:nvSpPr>
        <p:spPr>
          <a:xfrm>
            <a:off x="4498848" y="1316736"/>
            <a:ext cx="7269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3E3E44"/>
                </a:solidFill>
              </a:rPr>
              <a:t>Every scanner can tell you RSA is present. What decides the migration is what it is being used for.</a:t>
            </a:r>
          </a:p>
        </p:txBody>
      </p:sp>
      <p:sp>
        <p:nvSpPr>
          <p:cNvPr id="17430" name="cd-rsa"/>
          <p:cNvSpPr/>
          <p:nvPr/>
        </p:nvSpPr>
        <p:spPr>
          <a:xfrm>
            <a:off x="4498848" y="1810512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cd-rsa-edge"/>
          <p:cNvSpPr/>
          <p:nvPr/>
        </p:nvSpPr>
        <p:spPr>
          <a:xfrm>
            <a:off x="4498848" y="1810512"/>
            <a:ext cx="43180" cy="96926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cd-rsa-case"/>
          <p:cNvSpPr txBox="1"/>
          <p:nvPr/>
        </p:nvSpPr>
        <p:spPr>
          <a:xfrm>
            <a:off x="4654296" y="1883664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1 — RSA signing</a:t>
            </a:r>
          </a:p>
        </p:txBody>
      </p:sp>
      <p:sp>
        <p:nvSpPr>
          <p:cNvPr id="17433" name="cd-rsa-where"/>
          <p:cNvSpPr txBox="1"/>
          <p:nvPr/>
        </p:nvSpPr>
        <p:spPr>
          <a:xfrm>
            <a:off x="4654296" y="2084831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svc-payments/signing.py:15   ·   source · used</a:t>
            </a:r>
          </a:p>
        </p:txBody>
      </p:sp>
      <p:sp>
        <p:nvSpPr>
          <p:cNvPr id="17434" name="cd-rsa-purpose"/>
          <p:cNvSpPr txBox="1"/>
          <p:nvPr/>
        </p:nvSpPr>
        <p:spPr>
          <a:xfrm>
            <a:off x="4654296" y="2377440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9E3A24"/>
                </a:solidFill>
              </a:rPr>
              <a:t>RSA-PSS padding signs</a:t>
            </a:r>
          </a:p>
        </p:txBody>
      </p:sp>
      <p:sp>
        <p:nvSpPr>
          <p:cNvPr id="17435" name="cd-rsa-target"/>
          <p:cNvSpPr/>
          <p:nvPr/>
        </p:nvSpPr>
        <p:spPr>
          <a:xfrm>
            <a:off x="8551103" y="2322576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44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44C39"/>
                </a:solidFill>
              </a:rPr>
              <a:t>ML-DSA-65</a:t>
            </a:r>
          </a:p>
        </p:txBody>
      </p:sp>
      <p:sp>
        <p:nvSpPr>
          <p:cNvPr id="17436" name="cd-rsa"/>
          <p:cNvSpPr/>
          <p:nvPr/>
        </p:nvSpPr>
        <p:spPr>
          <a:xfrm>
            <a:off x="4498848" y="2916936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cd-rsa-edge"/>
          <p:cNvSpPr/>
          <p:nvPr/>
        </p:nvSpPr>
        <p:spPr>
          <a:xfrm>
            <a:off x="4498848" y="2916936"/>
            <a:ext cx="43180" cy="96926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cd-rsa-case"/>
          <p:cNvSpPr txBox="1"/>
          <p:nvPr/>
        </p:nvSpPr>
        <p:spPr>
          <a:xfrm>
            <a:off x="4654296" y="2990088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2 — RSA key establishment</a:t>
            </a:r>
          </a:p>
        </p:txBody>
      </p:sp>
      <p:sp>
        <p:nvSpPr>
          <p:cNvPr id="17439" name="cd-rsa-where"/>
          <p:cNvSpPr txBox="1"/>
          <p:nvPr/>
        </p:nvSpPr>
        <p:spPr>
          <a:xfrm>
            <a:off x="4654296" y="3191256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svc-gateway/transport.py:16   ·   source · used</a:t>
            </a:r>
          </a:p>
        </p:txBody>
      </p:sp>
      <p:sp>
        <p:nvSpPr>
          <p:cNvPr id="17440" name="cd-rsa-purpose"/>
          <p:cNvSpPr txBox="1"/>
          <p:nvPr/>
        </p:nvSpPr>
        <p:spPr>
          <a:xfrm>
            <a:off x="4654296" y="3483864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9E3A24"/>
                </a:solidFill>
              </a:rPr>
              <a:t>RSA-OAEP padding wraps a key</a:t>
            </a:r>
          </a:p>
        </p:txBody>
      </p:sp>
      <p:sp>
        <p:nvSpPr>
          <p:cNvPr id="17441" name="cd-rsa-target"/>
          <p:cNvSpPr/>
          <p:nvPr/>
        </p:nvSpPr>
        <p:spPr>
          <a:xfrm>
            <a:off x="8551103" y="3429000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44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44C39"/>
                </a:solidFill>
              </a:rPr>
              <a:t>X25519MLKEM768</a:t>
            </a:r>
          </a:p>
        </p:txBody>
      </p:sp>
      <p:sp>
        <p:nvSpPr>
          <p:cNvPr id="17442" name="cd-rsa"/>
          <p:cNvSpPr/>
          <p:nvPr/>
        </p:nvSpPr>
        <p:spPr>
          <a:xfrm>
            <a:off x="4498848" y="4023360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cd-rsa-edge"/>
          <p:cNvSpPr/>
          <p:nvPr/>
        </p:nvSpPr>
        <p:spPr>
          <a:xfrm>
            <a:off x="4498848" y="4023360"/>
            <a:ext cx="43180" cy="969264"/>
          </a:xfrm>
          <a:prstGeom prst="rect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cd-rsa-case"/>
          <p:cNvSpPr txBox="1"/>
          <p:nvPr/>
        </p:nvSpPr>
        <p:spPr>
          <a:xfrm>
            <a:off x="4654296" y="4096512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3 — RSA, unresolved</a:t>
            </a:r>
          </a:p>
        </p:txBody>
      </p:sp>
      <p:sp>
        <p:nvSpPr>
          <p:cNvPr id="17445" name="cd-rsa-where"/>
          <p:cNvSpPr txBox="1"/>
          <p:nvPr/>
        </p:nvSpPr>
        <p:spPr>
          <a:xfrm>
            <a:off x="4654296" y="4297680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legacy/nginx.conf:5   ·   config · declared</a:t>
            </a:r>
          </a:p>
        </p:txBody>
      </p:sp>
      <p:sp>
        <p:nvSpPr>
          <p:cNvPr id="17446" name="cd-rsa-purpose"/>
          <p:cNvSpPr txBox="1"/>
          <p:nvPr/>
        </p:nvSpPr>
        <p:spPr>
          <a:xfrm>
            <a:off x="4654296" y="4590288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63636B"/>
                </a:solidFill>
              </a:rPr>
              <a:t>a cipher list permits RSA, purpose unstated</a:t>
            </a:r>
          </a:p>
        </p:txBody>
      </p:sp>
      <p:sp>
        <p:nvSpPr>
          <p:cNvPr id="17447" name="cd-rsa-target"/>
          <p:cNvSpPr/>
          <p:nvPr/>
        </p:nvSpPr>
        <p:spPr>
          <a:xfrm>
            <a:off x="8551103" y="4535424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63636B"/>
                </a:solidFill>
              </a:rPr>
              <a:t>Purpose must be resolved first</a:t>
            </a:r>
          </a:p>
        </p:txBody>
      </p:sp>
      <p:sp>
        <p:nvSpPr>
          <p:cNvPr id="17448" name="cd-stack-eyebrow"/>
          <p:cNvSpPr txBox="1"/>
          <p:nvPr/>
        </p:nvSpPr>
        <p:spPr>
          <a:xfrm>
            <a:off x="420624" y="5303520"/>
            <a:ext cx="1134770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63636B"/>
                </a:solidFill>
              </a:rPr>
              <a:t>BUILT WITH</a:t>
            </a:r>
          </a:p>
        </p:txBody>
      </p:sp>
      <p:sp>
        <p:nvSpPr>
          <p:cNvPr id="17449" name="cd-stack"/>
          <p:cNvSpPr/>
          <p:nvPr/>
        </p:nvSpPr>
        <p:spPr>
          <a:xfrm>
            <a:off x="42062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Python 3.11+ · FastAPI</a:t>
            </a:r>
          </a:p>
        </p:txBody>
      </p:sp>
      <p:sp>
        <p:nvSpPr>
          <p:cNvPr id="17450" name="cd-stack"/>
          <p:cNvSpPr/>
          <p:nvPr/>
        </p:nvSpPr>
        <p:spPr>
          <a:xfrm>
            <a:off x="233324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SQLite (WAL)</a:t>
            </a:r>
          </a:p>
        </p:txBody>
      </p:sp>
      <p:sp>
        <p:nvSpPr>
          <p:cNvPr id="17451" name="cd-stack"/>
          <p:cNvSpPr/>
          <p:nvPr/>
        </p:nvSpPr>
        <p:spPr>
          <a:xfrm>
            <a:off x="424586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Vanilla JS console</a:t>
            </a:r>
          </a:p>
        </p:txBody>
      </p:sp>
      <p:sp>
        <p:nvSpPr>
          <p:cNvPr id="17452" name="cd-stack"/>
          <p:cNvSpPr/>
          <p:nvPr/>
        </p:nvSpPr>
        <p:spPr>
          <a:xfrm>
            <a:off x="615848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60 rules · 8 languages</a:t>
            </a:r>
          </a:p>
        </p:txBody>
      </p:sp>
      <p:sp>
        <p:nvSpPr>
          <p:cNvPr id="17453" name="cd-stack"/>
          <p:cNvSpPr/>
          <p:nvPr/>
        </p:nvSpPr>
        <p:spPr>
          <a:xfrm>
            <a:off x="807110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ELF symbol parsing</a:t>
            </a:r>
          </a:p>
        </p:txBody>
      </p:sp>
      <p:sp>
        <p:nvSpPr>
          <p:cNvPr id="17454" name="cd-stack"/>
          <p:cNvSpPr/>
          <p:nvPr/>
        </p:nvSpPr>
        <p:spPr>
          <a:xfrm>
            <a:off x="998372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CycloneDX 1.6 / 1.7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413248" cy="45354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800" b="1" i="0">
                <a:solidFill>
                  <a:srgbClr val="9E3A24"/>
                </a:solidFill>
              </a:rPr>
              <a:t>Implemented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0" i="0">
                <a:solidFill>
                  <a:srgbClr val="3E3E44"/>
                </a:solidFill>
              </a:rPr>
              <a:t>Seven scanning surfaces, each returning evidence with a location, a technique and a confidence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0" i="0">
                <a:solidFill>
                  <a:srgbClr val="3E3E44"/>
                </a:solidFill>
              </a:rPr>
              <a:t>An inventory of distinct assets, carrying purpose and assurance on every one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0" i="0">
                <a:solidFill>
                  <a:srgbClr val="3E3E44"/>
                </a:solidFill>
              </a:rPr>
              <a:t>A quantum-risk model taking operator-supplied shelf life, criticality and constraints, saved per asset and surviving a rescan</a:t>
            </a:r>
          </a:p>
          <a:p>
            <a:pPr marL="0" indent="0">
              <a:spcBef>
                <a:spcPts val="800"/>
              </a:spcBef>
              <a:spcAft>
                <a:spcPts val="500"/>
              </a:spcAft>
              <a:buNone/>
            </a:pPr>
            <a:r>
              <a:rPr sz="1800" b="1" i="0">
                <a:solidFill>
                  <a:srgbClr val="9E3A24"/>
                </a:solidFill>
              </a:rPr>
              <a:t>Validated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1" i="0">
                <a:solidFill>
                  <a:srgbClr val="1A1A1C"/>
                </a:solidFill>
              </a:rPr>
              <a:t>664 automated tests — </a:t>
            </a:r>
            <a:r>
              <a:rPr sz="1400" b="0" i="0">
                <a:solidFill>
                  <a:srgbClr val="3E3E44"/>
                </a:solidFill>
              </a:rPr>
              <a:t>on Python 3.11, 3.12 and 3.13 in CI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1" i="0">
                <a:solidFill>
                  <a:srgbClr val="1A1A1C"/>
                </a:solidFill>
              </a:rPr>
              <a:t>Official schema validation — </a:t>
            </a:r>
            <a:r>
              <a:rPr sz="1400" b="0" i="0">
                <a:solidFill>
                  <a:srgbClr val="3E3E44"/>
                </a:solidFill>
              </a:rPr>
              <a:t>every CBOM checked offline against the CycloneDX schemas at pinned commit 0bd48c8; CI fails on a violation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400" b="1" i="0">
                <a:solidFill>
                  <a:srgbClr val="1A1A1C"/>
                </a:solidFill>
              </a:rPr>
              <a:t>Hand-labelled benchmark — </a:t>
            </a:r>
            <a:r>
              <a:rPr sz="1400" b="0" i="0">
                <a:solidFill>
                  <a:srgbClr val="3E3E44"/>
                </a:solidFill>
              </a:rPr>
              <a:t>116 findings over six scanners, labelled from the fixtures, not from the tool's output</a:t>
            </a:r>
          </a:p>
          <a:p>
            <a:pPr marL="0" indent="0">
              <a:spcBef>
                <a:spcPts val="800"/>
              </a:spcBef>
              <a:spcAft>
                <a:spcPts val="500"/>
              </a:spcAft>
              <a:buNone/>
            </a:pPr>
            <a:r>
              <a:rPr sz="1800" b="1" i="0">
                <a:solidFill>
                  <a:srgbClr val="9E3A24"/>
                </a:solidFill>
              </a:rPr>
              <a:t>Feasible to deploy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3E3E44"/>
                </a:solidFill>
              </a:rPr>
              <a:t>The tool is local-first: one machine, loopback by default, no cloud service, and it validates its own output offline. Committed demo fixtures reproduce every figure in this deck with one command.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limits"/>
          <p:cNvSpPr txBox="1"/>
          <p:nvPr/>
        </p:nvSpPr>
        <p:spPr>
          <a:xfrm>
            <a:off x="420624" y="5724144"/>
            <a:ext cx="54132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Limits — Full AST analysis is Python only; seven further languages use rule packs, and Rust and Swift are recognised but effectively uncovered. Binary parsing is ELF only. No KMS, HSM, cloud or Kubernetes integration. A working prototype, not a deployed product.</a:t>
            </a:r>
          </a:p>
        </p:txBody>
      </p:sp>
      <p:pic>
        <p:nvPicPr>
          <p:cNvPr id="17412" name="cd-shot-01-assessment-0.31" descr="01-assessment-0.316-0.112-0.990-0.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097280"/>
            <a:ext cx="5641847" cy="1860689"/>
          </a:xfrm>
          <a:prstGeom prst="rect">
            <a:avLst/>
          </a:prstGeom>
        </p:spPr>
      </p:pic>
      <p:sp>
        <p:nvSpPr>
          <p:cNvPr id="17413" name="cd-caption"/>
          <p:cNvSpPr txBox="1"/>
          <p:nvPr/>
        </p:nvSpPr>
        <p:spPr>
          <a:xfrm>
            <a:off x="6126480" y="3031121"/>
            <a:ext cx="56418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Assessment — the scan states its own completeness first: one endpoint refused, so the inventory is marked PARTIAL.</a:t>
            </a:r>
          </a:p>
        </p:txBody>
      </p:sp>
      <p:pic>
        <p:nvPicPr>
          <p:cNvPr id="17414" name="cd-shot-07-evidence-drawer" descr="07-evidence-drawer-0.020-0.118-0.990-0.3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561473"/>
            <a:ext cx="5641847" cy="2083392"/>
          </a:xfrm>
          <a:prstGeom prst="rect">
            <a:avLst/>
          </a:prstGeom>
        </p:spPr>
      </p:pic>
      <p:sp>
        <p:nvSpPr>
          <p:cNvPr id="17415" name="cd-caption"/>
          <p:cNvSpPr txBox="1"/>
          <p:nvPr/>
        </p:nvSpPr>
        <p:spPr>
          <a:xfrm>
            <a:off x="6126480" y="5718017"/>
            <a:ext cx="56418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Evidence drawer — purpose, assurance and the exposure arithmetic behind one finding's score.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11347703" cy="2926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900" b="1" i="0">
                <a:solidFill>
                  <a:srgbClr val="9E3A24"/>
                </a:solidFill>
              </a:rPr>
              <a:t>What a migration team does with the output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stage"/>
          <p:cNvSpPr/>
          <p:nvPr/>
        </p:nvSpPr>
        <p:spPr>
          <a:xfrm>
            <a:off x="420624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DISCOVER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Inventory the cryptographic assets that are actually present.</a:t>
            </a:r>
          </a:p>
        </p:txBody>
      </p:sp>
      <p:sp>
        <p:nvSpPr>
          <p:cNvPr id="17412" name="cd-chip-edge"/>
          <p:cNvSpPr/>
          <p:nvPr/>
        </p:nvSpPr>
        <p:spPr>
          <a:xfrm>
            <a:off x="420624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arrow"/>
          <p:cNvSpPr/>
          <p:nvPr/>
        </p:nvSpPr>
        <p:spPr>
          <a:xfrm>
            <a:off x="2516428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stage"/>
          <p:cNvSpPr/>
          <p:nvPr/>
        </p:nvSpPr>
        <p:spPr>
          <a:xfrm>
            <a:off x="2745028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UNDERSTAND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Algorithm, purpose, evidence strength and exact location.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2745028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arrow"/>
          <p:cNvSpPr/>
          <p:nvPr/>
        </p:nvSpPr>
        <p:spPr>
          <a:xfrm>
            <a:off x="4840833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stage"/>
          <p:cNvSpPr/>
          <p:nvPr/>
        </p:nvSpPr>
        <p:spPr>
          <a:xfrm>
            <a:off x="5069433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PRIORITISE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Quantum exposure with documented, operator-set assumptions.</a:t>
            </a:r>
          </a:p>
        </p:txBody>
      </p:sp>
      <p:sp>
        <p:nvSpPr>
          <p:cNvPr id="17418" name="cd-chip-edge"/>
          <p:cNvSpPr/>
          <p:nvPr/>
        </p:nvSpPr>
        <p:spPr>
          <a:xfrm>
            <a:off x="5069433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arrow"/>
          <p:cNvSpPr/>
          <p:nvPr/>
        </p:nvSpPr>
        <p:spPr>
          <a:xfrm>
            <a:off x="7165238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cd-stage"/>
          <p:cNvSpPr/>
          <p:nvPr/>
        </p:nvSpPr>
        <p:spPr>
          <a:xfrm>
            <a:off x="7393838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PLAN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A purpose-matched target — or a request for more evidence.</a:t>
            </a:r>
          </a:p>
        </p:txBody>
      </p:sp>
      <p:sp>
        <p:nvSpPr>
          <p:cNvPr id="17421" name="cd-chip-edge"/>
          <p:cNvSpPr/>
          <p:nvPr/>
        </p:nvSpPr>
        <p:spPr>
          <a:xfrm>
            <a:off x="7393838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d-arrow"/>
          <p:cNvSpPr/>
          <p:nvPr/>
        </p:nvSpPr>
        <p:spPr>
          <a:xfrm>
            <a:off x="9489643" y="206654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cd-stage"/>
          <p:cNvSpPr/>
          <p:nvPr/>
        </p:nvSpPr>
        <p:spPr>
          <a:xfrm>
            <a:off x="9718243" y="1517904"/>
            <a:ext cx="2050084" cy="131673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EXPORT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A schema-validated CBOM and a traceable report.</a:t>
            </a:r>
          </a:p>
        </p:txBody>
      </p:sp>
      <p:sp>
        <p:nvSpPr>
          <p:cNvPr id="17424" name="cd-chip-edge"/>
          <p:cNvSpPr/>
          <p:nvPr/>
        </p:nvSpPr>
        <p:spPr>
          <a:xfrm>
            <a:off x="9718243" y="1517904"/>
            <a:ext cx="40640" cy="131673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cd-users-head"/>
          <p:cNvSpPr txBox="1"/>
          <p:nvPr/>
        </p:nvSpPr>
        <p:spPr>
          <a:xfrm>
            <a:off x="420624" y="309067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Who this is for</a:t>
            </a:r>
          </a:p>
        </p:txBody>
      </p:sp>
      <p:sp>
        <p:nvSpPr>
          <p:cNvPr id="17426" name="cd-users"/>
          <p:cNvSpPr txBox="1"/>
          <p:nvPr/>
        </p:nvSpPr>
        <p:spPr>
          <a:xfrm>
            <a:off x="420624" y="3383279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3E3E44"/>
                </a:solidFill>
              </a:rPr>
              <a:t>Intended for security engineering teams, cryptographic inventory and migration-planning teams, and infrastructure operators. These are intended users; the tool has not been deployed in production.</a:t>
            </a:r>
          </a:p>
        </p:txBody>
      </p:sp>
      <p:sp>
        <p:nvSpPr>
          <p:cNvPr id="17427" name="cd-changes-head"/>
          <p:cNvSpPr txBox="1"/>
          <p:nvPr/>
        </p:nvSpPr>
        <p:spPr>
          <a:xfrm>
            <a:off x="420624" y="4059935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What changes for them</a:t>
            </a:r>
          </a:p>
        </p:txBody>
      </p:sp>
      <p:sp>
        <p:nvSpPr>
          <p:cNvPr id="17428" name="cd-changes"/>
          <p:cNvSpPr txBox="1"/>
          <p:nvPr/>
        </p:nvSpPr>
        <p:spPr>
          <a:xfrm>
            <a:off x="420624" y="4370831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46050" indent="-146050">
              <a:spcBef>
                <a:spcPts val="0"/>
              </a:spcBef>
              <a:spcAft>
                <a:spcPts val="600"/>
              </a:spcAft>
              <a:buFont typeface="Arial"/>
              <a:buChar char="–"/>
            </a:pPr>
            <a:r>
              <a:rPr sz="1350" b="0" i="0">
                <a:solidFill>
                  <a:srgbClr val="3E3E44"/>
                </a:solidFill>
              </a:rPr>
              <a:t>“We think we use RSA somewhere” becomes a per-asset list with file, line, purpose, evidence strength and a named replacement.</a:t>
            </a:r>
          </a:p>
          <a:p>
            <a:pPr marL="146050" indent="-146050">
              <a:spcBef>
                <a:spcPts val="0"/>
              </a:spcBef>
              <a:spcAft>
                <a:spcPts val="600"/>
              </a:spcAft>
              <a:buFont typeface="Arial"/>
              <a:buChar char="–"/>
            </a:pPr>
            <a:r>
              <a:rPr sz="1350" b="0" i="0">
                <a:solidFill>
                  <a:srgbClr val="3E3E44"/>
                </a:solidFill>
              </a:rPr>
              <a:t>What an estate runs is separated from what it merely has installed, so the plan is not padded with libraries nobody calls.</a:t>
            </a:r>
          </a:p>
          <a:p>
            <a:pPr marL="146050" indent="-146050">
              <a:spcBef>
                <a:spcPts val="0"/>
              </a:spcBef>
              <a:spcAft>
                <a:spcPts val="600"/>
              </a:spcAft>
              <a:buFont typeface="Arial"/>
              <a:buChar char="–"/>
            </a:pPr>
            <a:r>
              <a:rPr sz="1350" b="0" i="0">
                <a:solidFill>
                  <a:srgbClr val="3E3E44"/>
                </a:solidFill>
              </a:rPr>
              <a:t>A partial scan is labelled partial, so nobody signs off an estate on an inventory that silently missed half of it.</a:t>
            </a:r>
          </a:p>
        </p:txBody>
      </p:sp>
      <p:sp>
        <p:nvSpPr>
          <p:cNvPr id="17429" name="cd-bench-head"/>
          <p:cNvSpPr txBox="1"/>
          <p:nvPr/>
        </p:nvSpPr>
        <p:spPr>
          <a:xfrm>
            <a:off x="6492240" y="3090672"/>
            <a:ext cx="52760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Measured on a labelled corpus</a:t>
            </a:r>
          </a:p>
        </p:txBody>
      </p:sp>
      <p:sp>
        <p:nvSpPr>
          <p:cNvPr id="17430" name="cd-bench-box"/>
          <p:cNvSpPr/>
          <p:nvPr/>
        </p:nvSpPr>
        <p:spPr>
          <a:xfrm>
            <a:off x="6492240" y="3419856"/>
            <a:ext cx="5276088" cy="78638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/>
            </a:r>
          </a:p>
        </p:txBody>
      </p:sp>
      <p:sp>
        <p:nvSpPr>
          <p:cNvPr id="17431" name="cd-bench-label"/>
          <p:cNvSpPr txBox="1"/>
          <p:nvPr/>
        </p:nvSpPr>
        <p:spPr>
          <a:xfrm>
            <a:off x="6656831" y="3493008"/>
            <a:ext cx="494690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1A1A1C"/>
                </a:solidFill>
              </a:rPr>
              <a:t>Like-for-like, same corpus, before → after</a:t>
            </a:r>
          </a:p>
        </p:txBody>
      </p:sp>
      <p:sp>
        <p:nvSpPr>
          <p:cNvPr id="17432" name="cd-bench-f1"/>
          <p:cNvSpPr txBox="1"/>
          <p:nvPr/>
        </p:nvSpPr>
        <p:spPr>
          <a:xfrm>
            <a:off x="6656831" y="3730752"/>
            <a:ext cx="49469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>
                <a:solidFill>
                  <a:srgbClr val="144C39"/>
                </a:solidFill>
              </a:rPr>
              <a:t>F1  0.941  →  0.983</a:t>
            </a:r>
          </a:p>
        </p:txBody>
      </p:sp>
      <p:sp>
        <p:nvSpPr>
          <p:cNvPr id="17433" name="cd-bench-counts"/>
          <p:cNvSpPr txBox="1"/>
          <p:nvPr/>
        </p:nvSpPr>
        <p:spPr>
          <a:xfrm>
            <a:off x="9144000" y="3767328"/>
            <a:ext cx="244144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79/5/5  →  84 TP · 3 FP · 0 FN</a:t>
            </a:r>
          </a:p>
        </p:txBody>
      </p:sp>
      <p:sp>
        <p:nvSpPr>
          <p:cNvPr id="17434" name="cd-bench-caveat"/>
          <p:cNvSpPr txBox="1"/>
          <p:nvPr/>
        </p:nvSpPr>
        <p:spPr>
          <a:xfrm>
            <a:off x="6492240" y="4297680"/>
            <a:ext cx="527608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An expanded synthetic corpus of 116 findings across six scanners scores 1.000 — a separate, non-comparable experiment. Both corpora were written by this project's developers and measure those corpora only; real-world enterprise accuracy has not been measured.</a:t>
            </a:r>
          </a:p>
        </p:txBody>
      </p:sp>
      <p:sp>
        <p:nvSpPr>
          <p:cNvPr id="17435" name="cd-report-caption"/>
          <p:cNvSpPr txBox="1"/>
          <p:nvPr/>
        </p:nvSpPr>
        <p:spPr>
          <a:xfrm>
            <a:off x="6492240" y="4901183"/>
            <a:ext cx="527608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The generated report — the same scan, as a printable document.</a:t>
            </a:r>
          </a:p>
        </p:txBody>
      </p:sp>
      <p:pic>
        <p:nvPicPr>
          <p:cNvPr id="17436" name="cd-shot-08-report-0.000-0." descr="08-report-0.000-0.000-1.000-0.3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5157216"/>
            <a:ext cx="5276088" cy="107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541264" cy="35295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600" b="1" i="0">
                <a:solidFill>
                  <a:srgbClr val="9E3A24"/>
                </a:solidFill>
              </a:rPr>
              <a:t>Cryptography standards informing classification and migration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203 — Module-Lattice-Based Key-Encapsulation Mechanism (ML-KEM). NIST, 2024. doi.org/10.6028/NIST.FIPS.203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204 — Module-Lattice-Based Digital Signature Standard (ML-DSA). NIST, 2024. doi.org/10.6028/NIST.FIPS.204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205 — Stateless Hash-Based Digital Signature Standard (SLH-DSA). NIST, 2024. doi.org/10.6028/NIST.FIPS.205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NIST IR 8547 (initial public draft) — Transition to Post-Quantum Cryptography Standards. NIST, 2024.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Problem statement and repository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Smart India Hackathon 2026, Problem Statement SIH26164 — Enterprise Cryptographic Discovery &amp; Analysis Tool (ECDAT), National Technical Research Organisation (NTRO).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Source, 664 tests, the labelled benchmark corpus and its committed results, and the vendored schemas: github.com/sgtsujith141-wq/cryptodrishti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refs-right"/>
          <p:cNvSpPr txBox="1"/>
          <p:nvPr/>
        </p:nvSpPr>
        <p:spPr>
          <a:xfrm>
            <a:off x="6400800" y="1097280"/>
            <a:ext cx="5367527" cy="3529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CBOM and container formats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v1.6, standardised as ECMA-424 (1st edition, June 2024) — cyclonedx.org/specification/overview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v1.7 JSON Schema. Both schemas vendored in this repository at pinned commit 0bd48c8 and checksummed.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OCI Image Format Specification — image layout, manifests and layer whiteouts. github.com/opencontainers/image-spec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RFC 8996 — Deprecating TLS 1.0 and TLS 1.1. rfc-editor.org/rfc/rfc8996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Risk methodology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M. Mosca, “Cybersecurity in an Era with Quantum Computers: Will We Be Ready?”, IEEE Security &amp; Privacy 16(5), 2018 — the source of the X + Y &gt; Z inequality.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P. W. Shor, “Polynomial-Time Algorithms for Prime Factorization and Discrete Logarithms”, SIAM J. Computing, 1997.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L. K. Grover, “A fast quantum mechanical algorithm for database search”, STOC 1996.</a:t>
            </a:r>
          </a:p>
        </p:txBody>
      </p:sp>
      <p:sp>
        <p:nvSpPr>
          <p:cNvPr id="17412" name="cd-repo"/>
          <p:cNvSpPr/>
          <p:nvPr/>
        </p:nvSpPr>
        <p:spPr>
          <a:xfrm>
            <a:off x="420624" y="4992624"/>
            <a:ext cx="3660647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B3A6B"/>
                </a:solidFill>
              </a:rPr>
              <a:t>Repository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63636B"/>
                </a:solidFill>
              </a:rPr>
              <a:t>github.com/sgtsujith141-wq/cryptodrishti</a:t>
            </a:r>
          </a:p>
        </p:txBody>
      </p:sp>
      <p:sp>
        <p:nvSpPr>
          <p:cNvPr id="17413" name="cd-chip-edge"/>
          <p:cNvSpPr/>
          <p:nvPr/>
        </p:nvSpPr>
        <p:spPr>
          <a:xfrm>
            <a:off x="420624" y="4992624"/>
            <a:ext cx="40640" cy="60350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youtube"/>
          <p:cNvSpPr/>
          <p:nvPr/>
        </p:nvSpPr>
        <p:spPr>
          <a:xfrm>
            <a:off x="4264152" y="4992624"/>
            <a:ext cx="3660647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B3A6B"/>
                </a:solidFill>
              </a:rPr>
              <a:t>Demo video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[YOUTUBE LINK TO BE ADDED AFTER UPLOAD]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4264152" y="4992624"/>
            <a:ext cx="40640" cy="60350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validated"/>
          <p:cNvSpPr/>
          <p:nvPr/>
        </p:nvSpPr>
        <p:spPr>
          <a:xfrm>
            <a:off x="8107680" y="4992624"/>
            <a:ext cx="3660647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44C39"/>
                </a:solidFill>
              </a:rPr>
              <a:t>CycloneDX 1.6 / 1.7 — validated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offline, against the official JSON Schema at a pinned commit</a:t>
            </a:r>
          </a:p>
        </p:txBody>
      </p:sp>
      <p:sp>
        <p:nvSpPr>
          <p:cNvPr id="17417" name="cd-chip-edge"/>
          <p:cNvSpPr/>
          <p:nvPr/>
        </p:nvSpPr>
        <p:spPr>
          <a:xfrm>
            <a:off x="8107680" y="4992624"/>
            <a:ext cx="40640" cy="603504"/>
          </a:xfrm>
          <a:prstGeom prst="rect">
            <a:avLst/>
          </a:prstGeom>
          <a:solidFill>
            <a:srgbClr val="144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cd-ref-note"/>
          <p:cNvSpPr txBox="1"/>
          <p:nvPr/>
        </p:nvSpPr>
        <p:spPr>
          <a:xfrm>
            <a:off x="420624" y="5705856"/>
            <a:ext cx="113477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63636B"/>
                </a:solidFill>
              </a:rPr>
              <a:t>Scope — CryptoDrishti discovers, classifies, assesses and recommends cryptography. It does not implement the post-quantum primitives above; it uses them as the standards that inform classification and migration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