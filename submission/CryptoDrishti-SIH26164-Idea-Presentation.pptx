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411480" y="2057400"/>
            <a:ext cx="5669280" cy="3337560"/>
          </a:xfrm>
          <a:prstGeom prst="rect">
            <a:avLst/>
          </a:prstGeom>
          <a:noFill/>
        </p:spPr>
        <p:txBody>
          <a:bodyPr wrap="square" rtlCol="0">
            <a:spAutoFit/>
          </a:bodyPr>
          <a:lstStyle/>
          <a:p>
            <a:pPr marL="0" indent="0">
              <a:spcBef>
                <a:spcPts val="0"/>
              </a:spcBef>
              <a:spcAft>
                <a:spcPts val="900"/>
              </a:spcAft>
              <a:buNone/>
            </a:pPr>
            <a:r>
              <a:rPr sz="1500" b="1">
                <a:solidFill>
                  <a:srgbClr val="1A1A1A"/>
                </a:solidFill>
              </a:rPr>
              <a:t>Problem Statement ID – SIH26164</a:t>
            </a:r>
            <a:endParaRPr lang="en-US" dirty="0"/>
          </a:p>
          <a:p>
            <a:pPr marL="0" indent="0">
              <a:spcBef>
                <a:spcPts val="0"/>
              </a:spcBef>
              <a:spcAft>
                <a:spcPts val="900"/>
              </a:spcAft>
              <a:buNone/>
            </a:pPr>
            <a:r>
              <a:rPr sz="1500">
                <a:solidFill>
                  <a:srgbClr val="1A1A1A"/>
                </a:solidFill>
              </a:rPr>
              <a:t>Problem Statement Title – Enterprise Cryptographic Discovery &amp; Analysis Tool (ECDAT)</a:t>
            </a:r>
          </a:p>
          <a:p>
            <a:pPr marL="0" indent="0">
              <a:spcBef>
                <a:spcPts val="0"/>
              </a:spcBef>
              <a:spcAft>
                <a:spcPts val="900"/>
              </a:spcAft>
              <a:buNone/>
            </a:pPr>
            <a:r>
              <a:rPr sz="1500">
                <a:solidFill>
                  <a:srgbClr val="1A1A1A"/>
                </a:solidFill>
              </a:rPr>
              <a:t>Theme – 26164</a:t>
            </a:r>
          </a:p>
          <a:p>
            <a:pPr marL="0" indent="0">
              <a:spcBef>
                <a:spcPts val="0"/>
              </a:spcBef>
              <a:spcAft>
                <a:spcPts val="900"/>
              </a:spcAft>
              <a:buNone/>
            </a:pPr>
            <a:r>
              <a:rPr sz="1500">
                <a:solidFill>
                  <a:srgbClr val="1A1A1A"/>
                </a:solidFill>
              </a:rPr>
              <a:t>PS Category – Software</a:t>
            </a:r>
          </a:p>
          <a:p>
            <a:pPr marL="0" indent="0">
              <a:spcBef>
                <a:spcPts val="0"/>
              </a:spcBef>
              <a:spcAft>
                <a:spcPts val="900"/>
              </a:spcAft>
              <a:buNone/>
            </a:pPr>
            <a:r>
              <a:rPr sz="1500">
                <a:solidFill>
                  <a:srgbClr val="1A1A1A"/>
                </a:solidFill>
              </a:rPr>
              <a:t>Team ID – 146876</a:t>
            </a:r>
          </a:p>
          <a:p>
            <a:pPr marL="0" indent="0">
              <a:spcBef>
                <a:spcPts val="0"/>
              </a:spcBef>
              <a:spcAft>
                <a:spcPts val="900"/>
              </a:spcAft>
              <a:buNone/>
            </a:pPr>
            <a:r>
              <a:rPr sz="1500">
                <a:solidFill>
                  <a:srgbClr val="1A1A1A"/>
                </a:solidFill>
              </a:rPr>
              <a:t>Team Name – Zero-Day</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8" name="cd-note"/>
          <p:cNvSpPr txBox="1"/>
          <p:nvPr/>
        </p:nvSpPr>
        <p:spPr>
          <a:xfrm>
            <a:off x="411480" y="5532120"/>
            <a:ext cx="5669280" cy="822960"/>
          </a:xfrm>
          <a:prstGeom prst="rect">
            <a:avLst/>
          </a:prstGeom>
          <a:noFill/>
        </p:spPr>
        <p:txBody>
          <a:bodyPr wrap="square">
            <a:spAutoFit/>
          </a:bodyPr>
          <a:lstStyle/>
          <a:p>
            <a:pPr marL="0" indent="0">
              <a:spcBef>
                <a:spcPts val="0"/>
              </a:spcBef>
              <a:spcAft>
                <a:spcPts val="200"/>
              </a:spcAft>
              <a:buNone/>
            </a:pPr>
            <a:r>
              <a:rPr sz="1200" b="1">
                <a:solidFill>
                  <a:srgbClr val="8C1D1D"/>
                </a:solidFill>
              </a:rPr>
              <a:t>CryptoDrishti — cryptographic discovery, quantum-risk assessment and post-quantum migration planning.</a:t>
            </a:r>
          </a:p>
          <a:p>
            <a:pPr marL="0" indent="0">
              <a:spcBef>
                <a:spcPts val="0"/>
              </a:spcBef>
              <a:spcAft>
                <a:spcPts val="200"/>
              </a:spcAft>
              <a:buNone/>
            </a:pPr>
            <a:r>
              <a:rPr sz="1100" i="1">
                <a:solidFill>
                  <a:srgbClr val="5A5A5A"/>
                </a:solidFill>
              </a:rPr>
              <a:t>Problem statement raised by the National Technical Research Organisation (NTRO).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r>
              <a:rPr lang="en-US" sz="3000" b="1" dirty="0">
                <a:latin typeface="Times New Roman" panose="02020603050405020304" pitchFamily="18" charset="0"/>
                <a:ea typeface="ＭＳ Ｐゴシック" pitchFamily="1" charset="-128"/>
                <a:cs typeface="Times New Roman" panose="02020603050405020304" pitchFamily="18" charset="0"/>
              </a:rPr>
              <a:t>CryptoDrishti  |  PROPOSED SOLUTION</a:t>
            </a:r>
            <a:r>
              <a:rPr lang="en-US" sz="3600" b="1" dirty="0">
                <a:latin typeface="Times New Roman" panose="02020603050405020304" pitchFamily="18" charset="0"/>
                <a:ea typeface="ＭＳ Ｐゴシック" pitchFamily="1" charset="-128"/>
                <a:cs typeface="Times New Roman" panose="02020603050405020304" pitchFamily="18" charset="0"/>
              </a:rPr>
              <a:t/>
            </a:r>
          </a:p>
        </p:txBody>
      </p:sp>
      <p:sp>
        <p:nvSpPr>
          <p:cNvPr id="15362" name="cd-body"/>
          <p:cNvSpPr txBox="1">
            <a:spLocks noChangeArrowheads="1"/>
          </p:cNvSpPr>
          <p:nvPr/>
        </p:nvSpPr>
        <p:spPr bwMode="auto">
          <a:xfrm>
            <a:off x="411480" y="1115568"/>
            <a:ext cx="6035040" cy="4023360"/>
          </a:xfrm>
          <a:prstGeom prst="rect">
            <a:avLst/>
          </a:prstGeom>
          <a:noFill/>
          <a:ln w="9525">
            <a:noFill/>
            <a:miter lim="800000"/>
            <a:headEnd/>
            <a:tailEnd/>
          </a:ln>
        </p:spPr>
        <p:txBody>
          <a:bodyPr wrap="square">
            <a:spAutoFit/>
          </a:bodyPr>
          <a:lstStyle/>
          <a:p>
            <a:pPr marL="0" indent="0">
              <a:spcBef>
                <a:spcPts val="0"/>
              </a:spcBef>
              <a:spcAft>
                <a:spcPts val="400"/>
              </a:spcAft>
              <a:buNone/>
            </a:pPr>
            <a:r>
              <a:rPr sz="1300" b="1">
                <a:solidFill>
                  <a:srgbClr val="8C1D1D"/>
                </a:solidFill>
              </a:rPr>
              <a:t>The problem</a:t>
            </a:r>
            <a:endParaRPr lang="en-US" sz="3200" u="sng" dirty="0">
              <a:solidFill>
                <a:schemeClr val="tx2"/>
              </a:solidFill>
              <a:latin typeface="Arial" pitchFamily="34" charset="0"/>
              <a:cs typeface="Arial" pitchFamily="34" charset="0"/>
            </a:endParaRPr>
          </a:p>
          <a:p>
            <a:pPr marL="0" indent="0">
              <a:spcBef>
                <a:spcPts val="0"/>
              </a:spcBef>
              <a:spcAft>
                <a:spcPts val="400"/>
              </a:spcAft>
              <a:buNone/>
            </a:pPr>
            <a:r>
              <a:rPr sz="1200">
                <a:solidFill>
                  <a:srgbClr val="1A1A1A"/>
                </a:solidFill>
              </a:rPr>
              <a:t>An organisation cannot migrate cryptography it cannot enumerate. Keys, algorithms and protocols are scattered across source code, transitive dependencies, compiled binaries with no source, certificate stores, deployment configuration and shipped container images.</a:t>
            </a:r>
          </a:p>
          <a:p>
            <a:pPr marL="0" indent="0">
              <a:spcBef>
                <a:spcPts val="800"/>
              </a:spcBef>
              <a:spcAft>
                <a:spcPts val="400"/>
              </a:spcAft>
              <a:buNone/>
            </a:pPr>
            <a:r>
              <a:rPr sz="1300" b="1">
                <a:solidFill>
                  <a:srgbClr val="8C1D1D"/>
                </a:solidFill>
              </a:rPr>
              <a:t>Our solution</a:t>
            </a:r>
          </a:p>
          <a:p>
            <a:pPr marL="0" indent="0">
              <a:spcBef>
                <a:spcPts val="0"/>
              </a:spcBef>
              <a:spcAft>
                <a:spcPts val="400"/>
              </a:spcAft>
              <a:buNone/>
            </a:pPr>
            <a:r>
              <a:rPr sz="1200">
                <a:solidFill>
                  <a:srgbClr val="1A1A1A"/>
                </a:solidFill>
              </a:rPr>
              <a:t>A single-operator tool that reads what is actually present, classifies every asset by what a quantum computer does to it, and emits a standards-conformant CycloneDX CBOM.</a:t>
            </a:r>
          </a:p>
          <a:p>
            <a:pPr marL="0" indent="0">
              <a:spcBef>
                <a:spcPts val="800"/>
              </a:spcBef>
              <a:spcAft>
                <a:spcPts val="400"/>
              </a:spcAft>
              <a:buNone/>
            </a:pPr>
            <a:r>
              <a:rPr sz="1300" b="1">
                <a:solidFill>
                  <a:srgbClr val="8C1D1D"/>
                </a:solidFill>
              </a:rPr>
              <a:t>What is genuinely new here</a:t>
            </a:r>
          </a:p>
          <a:p>
            <a:pPr marL="182880" indent="-182880">
              <a:spcBef>
                <a:spcPts val="0"/>
              </a:spcBef>
              <a:spcAft>
                <a:spcPts val="400"/>
              </a:spcAft>
              <a:buFont typeface="Arial"/>
              <a:buChar char="•"/>
            </a:pPr>
            <a:r>
              <a:rPr sz="1200" b="1">
                <a:solidFill>
                  <a:srgbClr val="1A1A1A"/>
                </a:solidFill>
              </a:rPr>
              <a:t>Purpose, not keyword. </a:t>
            </a:r>
            <a:r>
              <a:rPr sz="1200">
                <a:solidFill>
                  <a:srgbClr val="1A1A1A"/>
                </a:solidFill>
              </a:rPr>
              <a:t>Cryptographic purpose is resolved from the call site. RSA signing and RSA key transport are one algorithm and two different migrations — ML-DSA against ML-KEM — and the tool refuses to name a target when the evidence does not settle which.</a:t>
            </a:r>
          </a:p>
          <a:p>
            <a:pPr marL="182880" indent="-182880">
              <a:spcBef>
                <a:spcPts val="0"/>
              </a:spcBef>
              <a:spcAft>
                <a:spcPts val="400"/>
              </a:spcAft>
              <a:buFont typeface="Arial"/>
              <a:buChar char="•"/>
            </a:pPr>
            <a:r>
              <a:rPr sz="1200" b="1">
                <a:solidFill>
                  <a:srgbClr val="1A1A1A"/>
                </a:solidFill>
              </a:rPr>
              <a:t>Assurance is a field. </a:t>
            </a:r>
            <a:r>
              <a:rPr sz="1200">
                <a:solidFill>
                  <a:srgbClr val="1A1A1A"/>
                </a:solidFill>
              </a:rPr>
              <a:t>Capability, declared, used, observed. A library that can do RSA is not evidence that RSA is used, and the inventory says so.</a:t>
            </a:r>
          </a:p>
          <a:p>
            <a:pPr marL="182880" indent="-182880">
              <a:spcBef>
                <a:spcPts val="0"/>
              </a:spcBef>
              <a:spcAft>
                <a:spcPts val="400"/>
              </a:spcAft>
              <a:buFont typeface="Arial"/>
              <a:buChar char="•"/>
            </a:pPr>
            <a:r>
              <a:rPr sz="1200" b="1">
                <a:solidFill>
                  <a:srgbClr val="1A1A1A"/>
                </a:solidFill>
              </a:rPr>
              <a:t>Layer-aware containers. </a:t>
            </a:r>
            <a:r>
              <a:rPr sz="1200">
                <a:solidFill>
                  <a:srgbClr val="1A1A1A"/>
                </a:solidFill>
              </a:rPr>
              <a:t>A key deleted by a later layer is reported as historical — still extractable from the archive, not present at runtime.</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900"/>
              <a:t>Zero-Day</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pic>
        <p:nvPicPr>
          <p:cNvPr id="15363" name="cd-shot-04-inventory" descr="04-inventory.png"/>
          <p:cNvPicPr>
            <a:picLocks noChangeAspect="1"/>
          </p:cNvPicPr>
          <p:nvPr/>
        </p:nvPicPr>
        <p:blipFill>
          <a:blip r:embed="rId4"/>
          <a:stretch>
            <a:fillRect/>
          </a:stretch>
        </p:blipFill>
        <p:spPr>
          <a:xfrm>
            <a:off x="6693408" y="1152144"/>
            <a:ext cx="5084064" cy="3407221"/>
          </a:xfrm>
          <a:prstGeom prst="rect">
            <a:avLst/>
          </a:prstGeom>
        </p:spPr>
      </p:pic>
      <p:sp>
        <p:nvSpPr>
          <p:cNvPr id="15364" name="cd-caption"/>
          <p:cNvSpPr txBox="1"/>
          <p:nvPr/>
        </p:nvSpPr>
        <p:spPr>
          <a:xfrm>
            <a:off x="6693408" y="4614228"/>
            <a:ext cx="5084064" cy="274320"/>
          </a:xfrm>
          <a:prstGeom prst="rect">
            <a:avLst/>
          </a:prstGeom>
          <a:noFill/>
        </p:spPr>
        <p:txBody>
          <a:bodyPr wrap="square">
            <a:spAutoFit/>
          </a:bodyPr>
          <a:lstStyle/>
          <a:p>
            <a:pPr marL="0" indent="0">
              <a:buNone/>
            </a:pPr>
            <a:r>
              <a:rPr sz="950">
                <a:solidFill>
                  <a:srgbClr val="5A5A5A"/>
                </a:solidFill>
              </a:rPr>
              <a:t>One scan, three RSA findings, three different answers — and the third refuses to guess.</a:t>
            </a:r>
          </a:p>
        </p:txBody>
      </p:sp>
      <p:sp>
        <p:nvSpPr>
          <p:cNvPr id="15365" name="cd-band"/>
          <p:cNvSpPr txBox="1"/>
          <p:nvPr/>
        </p:nvSpPr>
        <p:spPr>
          <a:xfrm>
            <a:off x="411480" y="5138928"/>
            <a:ext cx="11365992" cy="1115567"/>
          </a:xfrm>
          <a:prstGeom prst="rect">
            <a:avLst/>
          </a:prstGeom>
          <a:noFill/>
        </p:spPr>
        <p:txBody>
          <a:bodyPr wrap="square">
            <a:spAutoFit/>
          </a:bodyPr>
          <a:lstStyle/>
          <a:p>
            <a:pPr marL="0" indent="0">
              <a:spcBef>
                <a:spcPts val="0"/>
              </a:spcBef>
              <a:spcAft>
                <a:spcPts val="300"/>
              </a:spcAft>
              <a:buNone/>
            </a:pPr>
            <a:r>
              <a:rPr sz="1100" b="1">
                <a:solidFill>
                  <a:srgbClr val="1A1A1A"/>
                </a:solidFill>
              </a:rPr>
              <a:t>Where it looks — </a:t>
            </a:r>
            <a:r>
              <a:rPr sz="1100">
                <a:solidFill>
                  <a:srgbClr val="1A1A1A"/>
                </a:solidFill>
              </a:rPr>
              <a:t>source code (Python AST plus curated rules for seven more languages) · dependency manifests · ELF binaries · X.509 certificates · server and application configuration · container images (OCI layout, OCI tar, docker save) · a live TLS endpoint the operator names.</a:t>
            </a:r>
          </a:p>
          <a:p>
            <a:pPr marL="0" indent="0">
              <a:spcBef>
                <a:spcPts val="0"/>
              </a:spcBef>
              <a:spcAft>
                <a:spcPts val="300"/>
              </a:spcAft>
              <a:buNone/>
            </a:pPr>
            <a:r>
              <a:rPr sz="1000" i="1">
                <a:solidFill>
                  <a:srgbClr val="5A5A5A"/>
                </a:solidFill>
              </a:rPr>
              <a:t>Everything except the TLS probe runs entirely offline.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17410" name="cd-body"/>
          <p:cNvSpPr txBox="1">
            <a:spLocks noChangeArrowheads="1"/>
          </p:cNvSpPr>
          <p:nvPr/>
        </p:nvSpPr>
        <p:spPr bwMode="auto">
          <a:xfrm>
            <a:off x="411480" y="1115568"/>
            <a:ext cx="4846320" cy="3749039"/>
          </a:xfrm>
          <a:prstGeom prst="rect">
            <a:avLst/>
          </a:prstGeom>
          <a:noFill/>
          <a:ln w="9525">
            <a:noFill/>
            <a:miter lim="800000"/>
            <a:headEnd/>
            <a:tailEnd/>
          </a:ln>
        </p:spPr>
        <p:txBody>
          <a:bodyPr wrap="square">
            <a:spAutoFit/>
          </a:bodyPr>
          <a:lstStyle/>
          <a:p>
            <a:pPr marL="0" indent="0" algn="just">
              <a:spcBef>
                <a:spcPts val="0"/>
              </a:spcBef>
              <a:spcAft>
                <a:spcPts val="300"/>
              </a:spcAft>
              <a:buNone/>
            </a:pPr>
            <a:r>
              <a:rPr sz="1200" b="1">
                <a:solidFill>
                  <a:srgbClr val="8C1D1D"/>
                </a:solidFill>
              </a:rPr>
              <a:t>Stack</a:t>
            </a:r>
          </a:p>
          <a:p>
            <a:pPr marL="0" indent="0">
              <a:spcBef>
                <a:spcPts val="0"/>
              </a:spcBef>
              <a:spcAft>
                <a:spcPts val="300"/>
              </a:spcAft>
              <a:buNone/>
            </a:pPr>
            <a:r>
              <a:rPr sz="1100">
                <a:solidFill>
                  <a:srgbClr val="1A1A1A"/>
                </a:solidFill>
              </a:rPr>
              <a:t>Python 3.11+ · FastAPI · SQLite · a vanilla JavaScript console with no build step, no framework and no CDN.</a:t>
            </a:r>
          </a:p>
          <a:p>
            <a:pPr marL="0" indent="0">
              <a:spcBef>
                <a:spcPts val="700"/>
              </a:spcBef>
              <a:spcAft>
                <a:spcPts val="300"/>
              </a:spcAft>
              <a:buNone/>
            </a:pPr>
            <a:r>
              <a:rPr sz="1200" b="1">
                <a:solidFill>
                  <a:srgbClr val="8C1D1D"/>
                </a:solidFill>
              </a:rPr>
              <a:t>Seven discovery sensors</a:t>
            </a:r>
          </a:p>
          <a:p>
            <a:pPr marL="0" indent="0">
              <a:spcBef>
                <a:spcPts val="0"/>
              </a:spcBef>
              <a:spcAft>
                <a:spcPts val="300"/>
              </a:spcAft>
              <a:buNone/>
            </a:pPr>
            <a:r>
              <a:rPr sz="1100">
                <a:solidFill>
                  <a:srgbClr val="1A1A1A"/>
                </a:solidFill>
              </a:rPr>
              <a:t>source · dependency · binary (ELF symbols) · certificate (X.509 and KeyUsage) · configuration · container · network (live TLS).</a:t>
            </a:r>
          </a:p>
          <a:p>
            <a:pPr marL="0" indent="0">
              <a:spcBef>
                <a:spcPts val="700"/>
              </a:spcBef>
              <a:spcAft>
                <a:spcPts val="300"/>
              </a:spcAft>
              <a:buNone/>
            </a:pPr>
            <a:r>
              <a:rPr sz="1200" b="1">
                <a:solidFill>
                  <a:srgbClr val="8C1D1D"/>
                </a:solidFill>
              </a:rPr>
              <a:t>Risk engine</a:t>
            </a:r>
          </a:p>
          <a:p>
            <a:pPr marL="0" indent="0">
              <a:spcBef>
                <a:spcPts val="0"/>
              </a:spcBef>
              <a:spcAft>
                <a:spcPts val="300"/>
              </a:spcAft>
              <a:buNone/>
            </a:pPr>
            <a:r>
              <a:rPr sz="1100">
                <a:solidFill>
                  <a:srgbClr val="1A1A1A"/>
                </a:solidFill>
              </a:rPr>
              <a:t>Mosca's inequality, X + Y &gt; Z, with a purpose-specific reading of X: harvest-now-decrypt-later for key establishment, forgery-after-Q-Day for signatures, a Grover margin for symmetric keys. Q-Day is an operator-chosen scenario, never a forecast.</a:t>
            </a:r>
          </a:p>
          <a:p>
            <a:pPr marL="0" indent="0">
              <a:spcBef>
                <a:spcPts val="700"/>
              </a:spcBef>
              <a:spcAft>
                <a:spcPts val="300"/>
              </a:spcAft>
              <a:buNone/>
            </a:pPr>
            <a:r>
              <a:rPr sz="1200" b="1">
                <a:solidFill>
                  <a:srgbClr val="8C1D1D"/>
                </a:solidFill>
              </a:rPr>
              <a:t>Output</a:t>
            </a:r>
          </a:p>
          <a:p>
            <a:pPr marL="0" indent="0">
              <a:spcBef>
                <a:spcPts val="0"/>
              </a:spcBef>
              <a:spcAft>
                <a:spcPts val="300"/>
              </a:spcAft>
              <a:buNone/>
            </a:pPr>
            <a:r>
              <a:rPr sz="1100">
                <a:solidFill>
                  <a:srgbClr val="1A1A1A"/>
                </a:solidFill>
              </a:rPr>
              <a:t>CycloneDX 1.6 and 1.7 CBOM, validated offline against the official JSON Schemas vendored at a pinned upstream commit, plus a self-contained HTML report.</a:t>
            </a:r>
          </a:p>
          <a:p>
            <a:pPr marL="0" indent="0">
              <a:spcBef>
                <a:spcPts val="700"/>
              </a:spcBef>
              <a:spcAft>
                <a:spcPts val="300"/>
              </a:spcAft>
              <a:buNone/>
            </a:pPr>
            <a:r>
              <a:rPr sz="1200" b="1">
                <a:solidFill>
                  <a:srgbClr val="8C1D1D"/>
                </a:solidFill>
              </a:rPr>
              <a:t>Deployment</a:t>
            </a:r>
          </a:p>
          <a:p>
            <a:pPr marL="0" indent="0">
              <a:spcBef>
                <a:spcPts val="0"/>
              </a:spcBef>
              <a:spcAft>
                <a:spcPts val="300"/>
              </a:spcAft>
              <a:buNone/>
            </a:pPr>
            <a:r>
              <a:rPr sz="1100">
                <a:solidFill>
                  <a:srgbClr val="1A1A1A"/>
                </a:solidFill>
              </a:rPr>
              <a:t>One operator, loopback by default. The server refuses to start on a non-loopback bind without an access token.</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900"/>
              <a:t>Zero-Day</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cd-note"/>
          <p:cNvSpPr txBox="1"/>
          <p:nvPr/>
        </p:nvSpPr>
        <p:spPr>
          <a:xfrm>
            <a:off x="411480" y="4956048"/>
            <a:ext cx="4846320" cy="1234440"/>
          </a:xfrm>
          <a:prstGeom prst="rect">
            <a:avLst/>
          </a:prstGeom>
          <a:noFill/>
        </p:spPr>
        <p:txBody>
          <a:bodyPr wrap="square">
            <a:spAutoFit/>
          </a:bodyPr>
          <a:lstStyle/>
          <a:p>
            <a:pPr marL="0" indent="0">
              <a:spcBef>
                <a:spcPts val="0"/>
              </a:spcBef>
              <a:spcAft>
                <a:spcPts val="200"/>
              </a:spcAft>
              <a:buNone/>
            </a:pPr>
            <a:r>
              <a:rPr sz="1050" b="1">
                <a:solidFill>
                  <a:srgbClr val="1A1A1A"/>
                </a:solidFill>
              </a:rPr>
              <a:t>What it does not do — </a:t>
            </a:r>
            <a:r>
              <a:rPr sz="950" i="1">
                <a:solidFill>
                  <a:srgbClr val="5A5A5A"/>
                </a:solidFill>
              </a:rPr>
              <a:t>no agent, no daemon, no telemetry and no outbound call the operator did not ask for. A scan of a directory or an image archive touches the network zero times.</a:t>
            </a:r>
          </a:p>
        </p:txBody>
      </p:sp>
      <p:pic>
        <p:nvPicPr>
          <p:cNvPr id="17412" name="cd-figure-architecture" descr="architecture.png"/>
          <p:cNvPicPr>
            <a:picLocks noChangeAspect="1"/>
          </p:cNvPicPr>
          <p:nvPr/>
        </p:nvPicPr>
        <p:blipFill>
          <a:blip r:embed="rId4"/>
          <a:stretch>
            <a:fillRect/>
          </a:stretch>
        </p:blipFill>
        <p:spPr>
          <a:xfrm>
            <a:off x="5532120" y="1097280"/>
            <a:ext cx="5842653" cy="4828032"/>
          </a:xfrm>
          <a:prstGeom prst="rect">
            <a:avLst/>
          </a:prstGeom>
        </p:spPr>
      </p:pic>
      <p:sp>
        <p:nvSpPr>
          <p:cNvPr id="17413" name="cd-caption"/>
          <p:cNvSpPr txBox="1"/>
          <p:nvPr/>
        </p:nvSpPr>
        <p:spPr>
          <a:xfrm>
            <a:off x="5532120" y="5971032"/>
            <a:ext cx="6245352" cy="274320"/>
          </a:xfrm>
          <a:prstGeom prst="rect">
            <a:avLst/>
          </a:prstGeom>
          <a:noFill/>
        </p:spPr>
        <p:txBody>
          <a:bodyPr wrap="square">
            <a:spAutoFit/>
          </a:bodyPr>
          <a:lstStyle/>
          <a:p>
            <a:pPr marL="0" indent="0">
              <a:buNone/>
            </a:pPr>
            <a:r>
              <a:rPr sz="950">
                <a:solidFill>
                  <a:srgbClr val="5A5A5A"/>
                </a:solidFill>
              </a:rPr>
              <a:t>Security gates sit between every input and every sensor. The TLS probe (dashed) is the only outbound path; no cloud, KMS, HSM or registry integration exists, so none is drawn.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17410" name="cd-body"/>
          <p:cNvSpPr txBox="1">
            <a:spLocks noChangeArrowheads="1"/>
          </p:cNvSpPr>
          <p:nvPr/>
        </p:nvSpPr>
        <p:spPr bwMode="auto">
          <a:xfrm>
            <a:off x="411480" y="1115568"/>
            <a:ext cx="6035040" cy="3913632"/>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ts val="0"/>
              </a:spcBef>
              <a:spcAft>
                <a:spcPts val="300"/>
              </a:spcAft>
              <a:buClrTx/>
              <a:buSzTx/>
              <a:buNone/>
              <a:tabLst/>
              <a:defRPr/>
            </a:pPr>
            <a:r>
              <a:rPr sz="1150" b="1">
                <a:solidFill>
                  <a:srgbClr val="8C1D1D"/>
                </a:solidFill>
              </a:rPr>
              <a:t>It is built, not proposed</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0" indent="0">
              <a:spcBef>
                <a:spcPts val="0"/>
              </a:spcBef>
              <a:spcAft>
                <a:spcPts val="300"/>
              </a:spcAft>
              <a:buNone/>
            </a:pPr>
            <a:r>
              <a:rPr sz="1050">
                <a:solidFill>
                  <a:srgbClr val="1A1A1A"/>
                </a:solidFill>
              </a:rPr>
              <a:t>A working prototype of roughly 9,000 lines of first-party Python and JavaScript, with 664 automated tests and continuous integration on Python 3.11, 3.12 and 3.13.</a:t>
            </a:r>
          </a:p>
          <a:p>
            <a:pPr marL="0" indent="0">
              <a:spcBef>
                <a:spcPts val="700"/>
              </a:spcBef>
              <a:spcAft>
                <a:spcPts val="300"/>
              </a:spcAft>
              <a:buNone/>
            </a:pPr>
            <a:r>
              <a:rPr sz="1150" b="1">
                <a:solidFill>
                  <a:srgbClr val="8C1D1D"/>
                </a:solidFill>
              </a:rPr>
              <a:t>How it is validated</a:t>
            </a:r>
          </a:p>
          <a:p>
            <a:pPr marL="182880" indent="-182880">
              <a:spcBef>
                <a:spcPts val="0"/>
              </a:spcBef>
              <a:spcAft>
                <a:spcPts val="300"/>
              </a:spcAft>
              <a:buFont typeface="Arial"/>
              <a:buChar char="•"/>
            </a:pPr>
            <a:r>
              <a:rPr sz="1050" b="1">
                <a:solidFill>
                  <a:srgbClr val="1A1A1A"/>
                </a:solidFill>
              </a:rPr>
              <a:t>Hand-labelled corpus. </a:t>
            </a:r>
            <a:r>
              <a:rPr sz="1050">
                <a:solidFill>
                  <a:srgbClr val="1A1A1A"/>
                </a:solidFill>
              </a:rPr>
              <a:t>116 findings across six scanners, with deliberately difficult negatives — comments, prose, crypto-shaped identifiers, a disable-list. CI fails if precision or recall regresses.</a:t>
            </a:r>
          </a:p>
          <a:p>
            <a:pPr marL="182880" indent="-182880">
              <a:spcBef>
                <a:spcPts val="0"/>
              </a:spcBef>
              <a:spcAft>
                <a:spcPts val="300"/>
              </a:spcAft>
              <a:buFont typeface="Arial"/>
              <a:buChar char="•"/>
            </a:pPr>
            <a:r>
              <a:rPr sz="1050" b="1">
                <a:solidFill>
                  <a:srgbClr val="1A1A1A"/>
                </a:solidFill>
              </a:rPr>
              <a:t>Schema conformance. </a:t>
            </a:r>
            <a:r>
              <a:rPr sz="1050">
                <a:solidFill>
                  <a:srgbClr val="1A1A1A"/>
                </a:solidFill>
              </a:rPr>
              <a:t>Every CBOM is checked against the official CycloneDX JSON Schemas, offline, at a pinned commit. CI fails on any violation.</a:t>
            </a:r>
          </a:p>
          <a:p>
            <a:pPr marL="0" indent="0">
              <a:spcBef>
                <a:spcPts val="700"/>
              </a:spcBef>
              <a:spcAft>
                <a:spcPts val="300"/>
              </a:spcAft>
              <a:buNone/>
            </a:pPr>
            <a:r>
              <a:rPr sz="1150" b="1">
                <a:solidFill>
                  <a:srgbClr val="8C1D1D"/>
                </a:solidFill>
              </a:rPr>
              <a:t>Risks, and what we did about them</a:t>
            </a:r>
          </a:p>
          <a:p>
            <a:pPr marL="182880" indent="-182880">
              <a:spcBef>
                <a:spcPts val="0"/>
              </a:spcBef>
              <a:spcAft>
                <a:spcPts val="300"/>
              </a:spcAft>
              <a:buFont typeface="Arial"/>
              <a:buChar char="•"/>
            </a:pPr>
            <a:r>
              <a:rPr sz="1050" b="1">
                <a:solidFill>
                  <a:srgbClr val="1A1A1A"/>
                </a:solidFill>
              </a:rPr>
              <a:t>Hostile input. </a:t>
            </a:r>
            <a:r>
              <a:rPr sz="1050">
                <a:solidFill>
                  <a:srgbClr val="1A1A1A"/>
                </a:solidFill>
              </a:rPr>
              <a:t>The tool reads untrusted paths and archives, so it enforces a filesystem boundary that refuses symlink escapes, vets every archive member, streams under a size budget with nothing extracted to disk, and resolves-then-vets every network address before connecting to the vetted literal.</a:t>
            </a:r>
          </a:p>
          <a:p>
            <a:pPr marL="182880" indent="-182880">
              <a:spcBef>
                <a:spcPts val="0"/>
              </a:spcBef>
              <a:spcAft>
                <a:spcPts val="300"/>
              </a:spcAft>
              <a:buFont typeface="Arial"/>
              <a:buChar char="•"/>
            </a:pPr>
            <a:r>
              <a:rPr sz="1050" b="1">
                <a:solidFill>
                  <a:srgbClr val="1A1A1A"/>
                </a:solidFill>
              </a:rPr>
              <a:t>A partial scan read as complete. </a:t>
            </a:r>
            <a:r>
              <a:rPr sz="1050">
                <a:solidFill>
                  <a:srgbClr val="1A1A1A"/>
                </a:solidFill>
              </a:rPr>
              <a:t>The most damaging output this tool could produce. Every scan carries an explicit complete-or-partial flag and its reasons into the console, the report and the CBOM.</a:t>
            </a:r>
          </a:p>
          <a:p>
            <a:pPr marL="182880" indent="-182880">
              <a:spcBef>
                <a:spcPts val="0"/>
              </a:spcBef>
              <a:spcAft>
                <a:spcPts val="300"/>
              </a:spcAft>
              <a:buFont typeface="Arial"/>
              <a:buChar char="•"/>
            </a:pPr>
            <a:r>
              <a:rPr sz="1050" b="1">
                <a:solidFill>
                  <a:srgbClr val="1A1A1A"/>
                </a:solidFill>
              </a:rPr>
              <a:t>Leaking what it finds. </a:t>
            </a:r>
            <a:r>
              <a:rPr sz="1050">
                <a:solidFill>
                  <a:srgbClr val="1A1A1A"/>
                </a:solidFill>
              </a:rPr>
              <a:t>Evidence is redacted before export; the location is kept, because that is what makes a finding actionable.</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900"/>
              <a:t>Zero-Day</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pic>
        <p:nvPicPr>
          <p:cNvPr id="17411" name="cd-shot-07-evidence-drawer" descr="07-evidence-drawer.png"/>
          <p:cNvPicPr>
            <a:picLocks noChangeAspect="1"/>
          </p:cNvPicPr>
          <p:nvPr/>
        </p:nvPicPr>
        <p:blipFill>
          <a:blip r:embed="rId4"/>
          <a:stretch>
            <a:fillRect/>
          </a:stretch>
        </p:blipFill>
        <p:spPr>
          <a:xfrm>
            <a:off x="6693408" y="1152144"/>
            <a:ext cx="5084064" cy="3231397"/>
          </a:xfrm>
          <a:prstGeom prst="rect">
            <a:avLst/>
          </a:prstGeom>
        </p:spPr>
      </p:pic>
      <p:sp>
        <p:nvSpPr>
          <p:cNvPr id="17412" name="cd-caption"/>
          <p:cNvSpPr txBox="1"/>
          <p:nvPr/>
        </p:nvSpPr>
        <p:spPr>
          <a:xfrm>
            <a:off x="6693408" y="4438405"/>
            <a:ext cx="5084064" cy="274320"/>
          </a:xfrm>
          <a:prstGeom prst="rect">
            <a:avLst/>
          </a:prstGeom>
          <a:noFill/>
        </p:spPr>
        <p:txBody>
          <a:bodyPr wrap="square">
            <a:spAutoFit/>
          </a:bodyPr>
          <a:lstStyle/>
          <a:p>
            <a:pPr marL="0" indent="0">
              <a:buNone/>
            </a:pPr>
            <a:r>
              <a:rPr sz="950">
                <a:solidFill>
                  <a:srgbClr val="5A5A5A"/>
                </a:solidFill>
              </a:rPr>
              <a:t>Every finding opens onto its evidence: file, line, technique, confidence, assurance and the exposure arithmetic behind its score.</a:t>
            </a:r>
          </a:p>
        </p:txBody>
      </p:sp>
      <p:sp>
        <p:nvSpPr>
          <p:cNvPr id="17413" name="cd-band"/>
          <p:cNvSpPr txBox="1"/>
          <p:nvPr/>
        </p:nvSpPr>
        <p:spPr>
          <a:xfrm>
            <a:off x="411480" y="5102352"/>
            <a:ext cx="11365992" cy="1152143"/>
          </a:xfrm>
          <a:prstGeom prst="rect">
            <a:avLst/>
          </a:prstGeom>
          <a:noFill/>
        </p:spPr>
        <p:txBody>
          <a:bodyPr wrap="square">
            <a:spAutoFit/>
          </a:bodyPr>
          <a:lstStyle/>
          <a:p>
            <a:pPr marL="0" indent="0">
              <a:spcBef>
                <a:spcPts val="0"/>
              </a:spcBef>
              <a:spcAft>
                <a:spcPts val="300"/>
              </a:spcAft>
              <a:buNone/>
            </a:pPr>
            <a:r>
              <a:rPr sz="1050" b="1">
                <a:solidFill>
                  <a:srgbClr val="1A1A1A"/>
                </a:solidFill>
              </a:rPr>
              <a:t>Honest constraints — </a:t>
            </a:r>
            <a:r>
              <a:rPr sz="1050">
                <a:solidFill>
                  <a:srgbClr val="1A1A1A"/>
                </a:solidFill>
              </a:rPr>
              <a:t>full AST analysis is Python only; seven more languages have curated rule packs, and Rust and Swift are recognised but effectively uncovered. Binary symbol parsing is ELF only, so Mach-O and PE are out of scope. No KMS, HSM, cloud or Kubernetes integration is implemented, and none is claimed.</a:t>
            </a:r>
          </a:p>
          <a:p>
            <a:pPr marL="0" indent="0">
              <a:spcBef>
                <a:spcPts val="0"/>
              </a:spcBef>
              <a:spcAft>
                <a:spcPts val="300"/>
              </a:spcAft>
              <a:buNone/>
            </a:pPr>
            <a:r>
              <a:rPr sz="1050" b="1">
                <a:solidFill>
                  <a:srgbClr val="1A1A1A"/>
                </a:solidFill>
              </a:rPr>
              <a:t>Reproduce every number above — </a:t>
            </a:r>
            <a:r>
              <a:rPr sz="950" i="1">
                <a:solidFill>
                  <a:srgbClr val="5A5A5A"/>
                </a:solidFill>
              </a:rPr>
              <a:t>python -m pytest  ·  python -m benchmark.run  ·  python run.py --preflight-offline</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17410" name="cd-body"/>
          <p:cNvSpPr txBox="1">
            <a:spLocks noChangeArrowheads="1"/>
          </p:cNvSpPr>
          <p:nvPr/>
        </p:nvSpPr>
        <p:spPr bwMode="auto">
          <a:xfrm>
            <a:off x="411480" y="1115568"/>
            <a:ext cx="6035040" cy="4059936"/>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ts val="0"/>
              </a:spcBef>
              <a:spcAft>
                <a:spcPts val="300"/>
              </a:spcAft>
              <a:buClrTx/>
              <a:buSzTx/>
              <a:buNone/>
              <a:tabLst/>
              <a:defRPr/>
            </a:pPr>
            <a:r>
              <a:rPr sz="1200" b="1">
                <a:solidFill>
                  <a:srgbClr val="8C1D1D"/>
                </a:solidFill>
              </a:rPr>
              <a:t>Who it is for</a:t>
            </a:r>
          </a:p>
          <a:p>
            <a:pPr marL="0" indent="0">
              <a:spcBef>
                <a:spcPts val="0"/>
              </a:spcBef>
              <a:spcAft>
                <a:spcPts val="300"/>
              </a:spcAft>
              <a:buNone/>
            </a:pPr>
            <a:r>
              <a:rPr sz="1100">
                <a:solidFill>
                  <a:srgbClr val="1A1A1A"/>
                </a:solidFill>
              </a:rPr>
              <a:t>Security engineers and migration programme owners who have been told to move to post-quantum cryptography and do not yet have an inventory to move.</a:t>
            </a:r>
          </a:p>
          <a:p>
            <a:pPr marL="0" indent="0">
              <a:spcBef>
                <a:spcPts val="700"/>
              </a:spcBef>
              <a:spcAft>
                <a:spcPts val="300"/>
              </a:spcAft>
              <a:buNone/>
            </a:pPr>
            <a:r>
              <a:rPr sz="1200" b="1">
                <a:solidFill>
                  <a:srgbClr val="8C1D1D"/>
                </a:solidFill>
              </a:rPr>
              <a:t>What it changes</a:t>
            </a:r>
          </a:p>
          <a:p>
            <a:pPr marL="182880" indent="-182880">
              <a:spcBef>
                <a:spcPts val="0"/>
              </a:spcBef>
              <a:spcAft>
                <a:spcPts val="300"/>
              </a:spcAft>
              <a:buFont typeface="Arial"/>
              <a:buChar char="•"/>
            </a:pPr>
            <a:r>
              <a:rPr sz="1100">
                <a:solidFill>
                  <a:srgbClr val="1A1A1A"/>
                </a:solidFill>
              </a:rPr>
              <a:t>Turns “we think we use RSA somewhere” into a per-asset list with file, line, purpose, evidence strength and a named replacement.</a:t>
            </a:r>
          </a:p>
          <a:p>
            <a:pPr marL="182880" indent="-182880">
              <a:spcBef>
                <a:spcPts val="0"/>
              </a:spcBef>
              <a:spcAft>
                <a:spcPts val="300"/>
              </a:spcAft>
              <a:buFont typeface="Arial"/>
              <a:buChar char="•"/>
            </a:pPr>
            <a:r>
              <a:rPr sz="1100">
                <a:solidFill>
                  <a:srgbClr val="1A1A1A"/>
                </a:solidFill>
              </a:rPr>
              <a:t>Separates what an estate runs from what it merely has available, so a migration plan is not padded with libraries nobody calls.</a:t>
            </a:r>
          </a:p>
          <a:p>
            <a:pPr marL="182880" indent="-182880">
              <a:spcBef>
                <a:spcPts val="0"/>
              </a:spcBef>
              <a:spcAft>
                <a:spcPts val="300"/>
              </a:spcAft>
              <a:buFont typeface="Arial"/>
              <a:buChar char="•"/>
            </a:pPr>
            <a:r>
              <a:rPr sz="1100">
                <a:solidFill>
                  <a:srgbClr val="1A1A1A"/>
                </a:solidFill>
              </a:rPr>
              <a:t>Produces a CBOM a regulator or a downstream tool can actually consume, in a published standard rather than a bespoke format.</a:t>
            </a:r>
          </a:p>
          <a:p>
            <a:pPr marL="0" indent="0">
              <a:spcBef>
                <a:spcPts val="700"/>
              </a:spcBef>
              <a:spcAft>
                <a:spcPts val="300"/>
              </a:spcAft>
              <a:buNone/>
            </a:pPr>
            <a:r>
              <a:rPr sz="1200" b="1">
                <a:solidFill>
                  <a:srgbClr val="8C1D1D"/>
                </a:solidFill>
              </a:rPr>
              <a:t>Measured evidence</a:t>
            </a:r>
          </a:p>
          <a:p>
            <a:pPr marL="0" indent="0">
              <a:spcBef>
                <a:spcPts val="0"/>
              </a:spcBef>
              <a:spcAft>
                <a:spcPts val="300"/>
              </a:spcAft>
              <a:buNone/>
            </a:pPr>
            <a:r>
              <a:rPr sz="1100">
                <a:solidFill>
                  <a:srgbClr val="1A1A1A"/>
                </a:solidFill>
              </a:rPr>
              <a:t>Across the project's own labelled corpus of 116 findings: precision 1.000, recall 1.000, F1 1.000, with cryptographic purpose correct on 114 of 114 scored cases.</a:t>
            </a:r>
          </a:p>
          <a:p>
            <a:pPr marL="0" indent="0">
              <a:spcBef>
                <a:spcPts val="0"/>
              </a:spcBef>
              <a:spcAft>
                <a:spcPts val="300"/>
              </a:spcAft>
              <a:buNone/>
            </a:pPr>
            <a:r>
              <a:rPr sz="1000" i="1">
                <a:solidFill>
                  <a:srgbClr val="5A5A5A"/>
                </a:solidFill>
              </a:rPr>
              <a:t>These figures measure a developer-written synthetic corpus. They are NOT an estimate of real-world enterprise accuracy, which this project has not measured and does not claim. Network-sensor accuracy is excluded, because what a TLS handshake negotiates depends on the local library build.</a:t>
            </a:r>
          </a:p>
          <a:p>
            <a:pPr marL="0" indent="0">
              <a:spcBef>
                <a:spcPts val="700"/>
              </a:spcBef>
              <a:spcAft>
                <a:spcPts val="300"/>
              </a:spcAft>
              <a:buNone/>
            </a:pPr>
            <a:r>
              <a:rPr sz="1200" b="1">
                <a:solidFill>
                  <a:srgbClr val="8C1D1D"/>
                </a:solidFill>
              </a:rPr>
              <a:t>Adoption cost</a:t>
            </a:r>
          </a:p>
          <a:p>
            <a:pPr marL="0" indent="0">
              <a:spcBef>
                <a:spcPts val="0"/>
              </a:spcBef>
              <a:spcAft>
                <a:spcPts val="300"/>
              </a:spcAft>
              <a:buNone/>
            </a:pPr>
            <a:r>
              <a:rPr sz="1100">
                <a:solidFill>
                  <a:srgbClr val="1A1A1A"/>
                </a:solidFill>
              </a:rPr>
              <a:t>One command, no daemon, no network, no cloud account. It reads a repository, a binary tree or a container image on the machine it is already running on.</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900"/>
              <a:t>Zero-Day</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cd-note"/>
          <p:cNvSpPr txBox="1"/>
          <p:nvPr/>
        </p:nvSpPr>
        <p:spPr>
          <a:xfrm>
            <a:off x="411480" y="5230368"/>
            <a:ext cx="6035040" cy="1005840"/>
          </a:xfrm>
          <a:prstGeom prst="rect">
            <a:avLst/>
          </a:prstGeom>
          <a:noFill/>
        </p:spPr>
        <p:txBody>
          <a:bodyPr wrap="square">
            <a:spAutoFit/>
          </a:bodyPr>
          <a:lstStyle/>
          <a:p>
            <a:pPr marL="0" indent="0">
              <a:spcBef>
                <a:spcPts val="0"/>
              </a:spcBef>
              <a:spcAft>
                <a:spcPts val="200"/>
              </a:spcAft>
              <a:buNone/>
            </a:pPr>
            <a:r>
              <a:rPr sz="1050" b="1">
                <a:solidFill>
                  <a:srgbClr val="1A1A1A"/>
                </a:solidFill>
              </a:rPr>
              <a:t>Both screens beside this text come from one command — </a:t>
            </a:r>
            <a:r>
              <a:rPr sz="950" i="1">
                <a:solidFill>
                  <a:srgbClr val="5A5A5A"/>
                </a:solidFill>
              </a:rPr>
              <a:t>python run.py --demo builds a synthetic estate and a container image, scans them, records an operator override and leaves the console showing exactly what is shown here.</a:t>
            </a:r>
          </a:p>
        </p:txBody>
      </p:sp>
      <p:pic>
        <p:nvPicPr>
          <p:cNvPr id="17412" name="cd-shot-06-scan-history" descr="06-scan-history.png"/>
          <p:cNvPicPr>
            <a:picLocks noChangeAspect="1"/>
          </p:cNvPicPr>
          <p:nvPr/>
        </p:nvPicPr>
        <p:blipFill>
          <a:blip r:embed="rId4"/>
          <a:stretch>
            <a:fillRect/>
          </a:stretch>
        </p:blipFill>
        <p:spPr>
          <a:xfrm>
            <a:off x="6693408" y="1152144"/>
            <a:ext cx="5084064" cy="1300374"/>
          </a:xfrm>
          <a:prstGeom prst="rect">
            <a:avLst/>
          </a:prstGeom>
        </p:spPr>
      </p:pic>
      <p:sp>
        <p:nvSpPr>
          <p:cNvPr id="17413" name="cd-caption"/>
          <p:cNvSpPr txBox="1"/>
          <p:nvPr/>
        </p:nvSpPr>
        <p:spPr>
          <a:xfrm>
            <a:off x="6693408" y="2507382"/>
            <a:ext cx="5084064" cy="274320"/>
          </a:xfrm>
          <a:prstGeom prst="rect">
            <a:avLst/>
          </a:prstGeom>
          <a:noFill/>
        </p:spPr>
        <p:txBody>
          <a:bodyPr wrap="square">
            <a:spAutoFit/>
          </a:bodyPr>
          <a:lstStyle/>
          <a:p>
            <a:pPr marL="0" indent="0">
              <a:buNone/>
            </a:pPr>
            <a:r>
              <a:rPr sz="950">
                <a:solidFill>
                  <a:srgbClr val="5A5A5A"/>
                </a:solidFill>
              </a:rPr>
              <a:t>A partial scan is labelled PARTIAL, with the reason, rather than passed off as a complete inventory.</a:t>
            </a:r>
          </a:p>
        </p:txBody>
      </p:sp>
      <p:pic>
        <p:nvPicPr>
          <p:cNvPr id="17414" name="cd-shot-02-exposure" descr="02-exposure.png"/>
          <p:cNvPicPr>
            <a:picLocks noChangeAspect="1"/>
          </p:cNvPicPr>
          <p:nvPr/>
        </p:nvPicPr>
        <p:blipFill>
          <a:blip r:embed="rId5"/>
          <a:stretch>
            <a:fillRect/>
          </a:stretch>
        </p:blipFill>
        <p:spPr>
          <a:xfrm>
            <a:off x="6693408" y="3056021"/>
            <a:ext cx="5084064" cy="2776565"/>
          </a:xfrm>
          <a:prstGeom prst="rect">
            <a:avLst/>
          </a:prstGeom>
        </p:spPr>
      </p:pic>
      <p:sp>
        <p:nvSpPr>
          <p:cNvPr id="17415" name="cd-caption"/>
          <p:cNvSpPr txBox="1"/>
          <p:nvPr/>
        </p:nvSpPr>
        <p:spPr>
          <a:xfrm>
            <a:off x="6693408" y="5887450"/>
            <a:ext cx="5084064" cy="274320"/>
          </a:xfrm>
          <a:prstGeom prst="rect">
            <a:avLst/>
          </a:prstGeom>
          <a:noFill/>
        </p:spPr>
        <p:txBody>
          <a:bodyPr wrap="square">
            <a:spAutoFit/>
          </a:bodyPr>
          <a:lstStyle/>
          <a:p>
            <a:pPr marL="0" indent="0">
              <a:buNone/>
            </a:pPr>
            <a:r>
              <a:rPr sz="950">
                <a:solidFill>
                  <a:srgbClr val="5A5A5A"/>
                </a:solidFill>
              </a:rPr>
              <a:t>Exposure is shown as arithmetic the operator can argue with — secrecy, migration effort and the chosen Q-Day scenario, each labelled by where its value came from.</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0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17410" name="cd-body"/>
          <p:cNvSpPr txBox="1">
            <a:spLocks noChangeArrowheads="1"/>
          </p:cNvSpPr>
          <p:nvPr/>
        </p:nvSpPr>
        <p:spPr bwMode="auto">
          <a:xfrm>
            <a:off x="411480" y="1115568"/>
            <a:ext cx="5989320" cy="3931920"/>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ts val="0"/>
              </a:spcBef>
              <a:spcAft>
                <a:spcPts val="200"/>
              </a:spcAft>
              <a:buClrTx/>
              <a:buSzTx/>
              <a:buNone/>
              <a:tabLst/>
              <a:defRPr/>
            </a:pPr>
            <a:r>
              <a:rPr sz="1150" b="1">
                <a:solidFill>
                  <a:srgbClr val="8C1D1D"/>
                </a:solidFill>
              </a:rPr>
              <a:t>Standards implemented</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182880" indent="-182880">
              <a:spcBef>
                <a:spcPts val="0"/>
              </a:spcBef>
              <a:spcAft>
                <a:spcPts val="200"/>
              </a:spcAft>
              <a:buFont typeface="Arial"/>
              <a:buChar char="•"/>
            </a:pPr>
            <a:r>
              <a:rPr sz="1050">
                <a:solidFill>
                  <a:srgbClr val="1A1A1A"/>
                </a:solidFill>
              </a:rPr>
              <a:t>FIPS 203 — ML-KEM, module-lattice key encapsulation</a:t>
            </a:r>
          </a:p>
          <a:p>
            <a:pPr marL="182880" indent="-182880">
              <a:spcBef>
                <a:spcPts val="0"/>
              </a:spcBef>
              <a:spcAft>
                <a:spcPts val="200"/>
              </a:spcAft>
              <a:buFont typeface="Arial"/>
              <a:buChar char="•"/>
            </a:pPr>
            <a:r>
              <a:rPr sz="1050">
                <a:solidFill>
                  <a:srgbClr val="1A1A1A"/>
                </a:solidFill>
              </a:rPr>
              <a:t>FIPS 204 — ML-DSA, module-lattice digital signatures</a:t>
            </a:r>
          </a:p>
          <a:p>
            <a:pPr marL="182880" indent="-182880">
              <a:spcBef>
                <a:spcPts val="0"/>
              </a:spcBef>
              <a:spcAft>
                <a:spcPts val="200"/>
              </a:spcAft>
              <a:buFont typeface="Arial"/>
              <a:buChar char="•"/>
            </a:pPr>
            <a:r>
              <a:rPr sz="1050">
                <a:solidFill>
                  <a:srgbClr val="1A1A1A"/>
                </a:solidFill>
              </a:rPr>
              <a:t>FIPS 205 — SLH-DSA, stateless hash-based signatures</a:t>
            </a:r>
          </a:p>
          <a:p>
            <a:pPr marL="182880" indent="-182880">
              <a:spcBef>
                <a:spcPts val="0"/>
              </a:spcBef>
              <a:spcAft>
                <a:spcPts val="200"/>
              </a:spcAft>
              <a:buFont typeface="Arial"/>
              <a:buChar char="•"/>
            </a:pPr>
            <a:r>
              <a:rPr sz="1050">
                <a:solidFill>
                  <a:srgbClr val="1A1A1A"/>
                </a:solidFill>
              </a:rPr>
              <a:t>FIPS 202 — SHA-3 and SHAKE; SP 800-208 — LMS</a:t>
            </a:r>
          </a:p>
          <a:p>
            <a:pPr marL="182880" indent="-182880">
              <a:spcBef>
                <a:spcPts val="0"/>
              </a:spcBef>
              <a:spcAft>
                <a:spcPts val="200"/>
              </a:spcAft>
              <a:buFont typeface="Arial"/>
              <a:buChar char="•"/>
            </a:pPr>
            <a:r>
              <a:rPr sz="1050">
                <a:solidFill>
                  <a:srgbClr val="1A1A1A"/>
                </a:solidFill>
              </a:rPr>
              <a:t>NIST IR 8547 — transition to post-quantum cryptography standards</a:t>
            </a:r>
          </a:p>
          <a:p>
            <a:pPr marL="0" indent="0">
              <a:spcBef>
                <a:spcPts val="600"/>
              </a:spcBef>
              <a:spcAft>
                <a:spcPts val="200"/>
              </a:spcAft>
              <a:buNone/>
            </a:pPr>
            <a:r>
              <a:rPr sz="1150" b="1">
                <a:solidFill>
                  <a:srgbClr val="8C1D1D"/>
                </a:solidFill>
              </a:rPr>
              <a:t>Formats and specifications</a:t>
            </a:r>
          </a:p>
          <a:p>
            <a:pPr marL="182880" indent="-182880">
              <a:spcBef>
                <a:spcPts val="0"/>
              </a:spcBef>
              <a:spcAft>
                <a:spcPts val="200"/>
              </a:spcAft>
              <a:buFont typeface="Arial"/>
              <a:buChar char="•"/>
            </a:pPr>
            <a:r>
              <a:rPr sz="1050">
                <a:solidFill>
                  <a:srgbClr val="1A1A1A"/>
                </a:solidFill>
              </a:rPr>
              <a:t>CycloneDX 1.6 (ECMA-424) and CycloneDX 1.7 — cryptographic bill of materials; schemas vendored from the CycloneDX specification repository at pinned commit 0bd48c8</a:t>
            </a:r>
          </a:p>
          <a:p>
            <a:pPr marL="182880" indent="-182880">
              <a:spcBef>
                <a:spcPts val="0"/>
              </a:spcBef>
              <a:spcAft>
                <a:spcPts val="200"/>
              </a:spcAft>
              <a:buFont typeface="Arial"/>
              <a:buChar char="•"/>
            </a:pPr>
            <a:r>
              <a:rPr sz="1050">
                <a:solidFill>
                  <a:srgbClr val="1A1A1A"/>
                </a:solidFill>
              </a:rPr>
              <a:t>RFC 8996 — deprecation of TLS 1.0 and 1.1</a:t>
            </a:r>
          </a:p>
          <a:p>
            <a:pPr marL="182880" indent="-182880">
              <a:spcBef>
                <a:spcPts val="0"/>
              </a:spcBef>
              <a:spcAft>
                <a:spcPts val="200"/>
              </a:spcAft>
              <a:buFont typeface="Arial"/>
              <a:buChar char="•"/>
            </a:pPr>
            <a:r>
              <a:rPr sz="1050">
                <a:solidFill>
                  <a:srgbClr val="1A1A1A"/>
                </a:solidFill>
              </a:rPr>
              <a:t>RFC 7693 — BLAKE2 · RFC 8032 — EdDSA · RFC 7748 — X25519 and X448</a:t>
            </a:r>
          </a:p>
          <a:p>
            <a:pPr marL="182880" indent="-182880">
              <a:spcBef>
                <a:spcPts val="0"/>
              </a:spcBef>
              <a:spcAft>
                <a:spcPts val="200"/>
              </a:spcAft>
              <a:buFont typeface="Arial"/>
              <a:buChar char="•"/>
            </a:pPr>
            <a:r>
              <a:rPr sz="1050">
                <a:solidFill>
                  <a:srgbClr val="1A1A1A"/>
                </a:solidFill>
              </a:rPr>
              <a:t>OCI Image Format Specification — image layout and layer whiteouts</a:t>
            </a:r>
          </a:p>
          <a:p>
            <a:pPr marL="0" indent="0">
              <a:spcBef>
                <a:spcPts val="600"/>
              </a:spcBef>
              <a:spcAft>
                <a:spcPts val="200"/>
              </a:spcAft>
              <a:buNone/>
            </a:pPr>
            <a:r>
              <a:rPr sz="1150" b="1">
                <a:solidFill>
                  <a:srgbClr val="8C1D1D"/>
                </a:solidFill>
              </a:rPr>
              <a:t>Method</a:t>
            </a:r>
          </a:p>
          <a:p>
            <a:pPr marL="182880" indent="-182880">
              <a:spcBef>
                <a:spcPts val="0"/>
              </a:spcBef>
              <a:spcAft>
                <a:spcPts val="200"/>
              </a:spcAft>
              <a:buFont typeface="Arial"/>
              <a:buChar char="•"/>
            </a:pPr>
            <a:r>
              <a:rPr sz="1050">
                <a:solidFill>
                  <a:srgbClr val="1A1A1A"/>
                </a:solidFill>
              </a:rPr>
              <a:t>Mosca's inequality (X + Y &gt; Z) for exposure timing; Shor's and Grover's algorithms for the classification split.</a:t>
            </a:r>
          </a:p>
          <a:p>
            <a:pPr marL="0" indent="0">
              <a:spcBef>
                <a:spcPts val="600"/>
              </a:spcBef>
              <a:spcAft>
                <a:spcPts val="200"/>
              </a:spcAft>
              <a:buNone/>
            </a:pPr>
            <a:r>
              <a:rPr sz="1150" b="1">
                <a:solidFill>
                  <a:srgbClr val="8C1D1D"/>
                </a:solidFill>
              </a:rPr>
              <a:t>Project</a:t>
            </a:r>
          </a:p>
          <a:p>
            <a:pPr marL="182880" indent="-182880">
              <a:spcBef>
                <a:spcPts val="0"/>
              </a:spcBef>
              <a:spcAft>
                <a:spcPts val="200"/>
              </a:spcAft>
              <a:buFont typeface="Arial"/>
              <a:buChar char="•"/>
            </a:pPr>
            <a:r>
              <a:rPr sz="1050">
                <a:solidFill>
                  <a:srgbClr val="1A1A1A"/>
                </a:solidFill>
              </a:rPr>
              <a:t>github.com/sgtsujith141-wq/cryptodrishti — source, 664 tests, the labelled benchmark corpus and its committed results, the vendored schemas, and the architecture diagram's editable source.</a:t>
            </a:r>
          </a:p>
          <a:p>
            <a:pPr marL="182880" indent="-182880">
              <a:spcBef>
                <a:spcPts val="0"/>
              </a:spcBef>
              <a:spcAft>
                <a:spcPts val="200"/>
              </a:spcAft>
              <a:buFont typeface="Arial"/>
              <a:buChar char="•"/>
            </a:pPr>
            <a:r>
              <a:rPr sz="1050">
                <a:solidFill>
                  <a:srgbClr val="1A1A1A"/>
                </a:solidFill>
              </a:rPr>
              <a:t>Problem statement SIH26164, raised by the National Technical Research Organisation (NTRO).</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900"/>
              <a:t>Zero-Day</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cd-note"/>
          <p:cNvSpPr txBox="1"/>
          <p:nvPr/>
        </p:nvSpPr>
        <p:spPr>
          <a:xfrm>
            <a:off x="6693408" y="1115568"/>
            <a:ext cx="5084064" cy="822960"/>
          </a:xfrm>
          <a:prstGeom prst="rect">
            <a:avLst/>
          </a:prstGeom>
          <a:noFill/>
        </p:spPr>
        <p:txBody>
          <a:bodyPr wrap="square">
            <a:spAutoFit/>
          </a:bodyPr>
          <a:lstStyle/>
          <a:p>
            <a:pPr marL="0" indent="0">
              <a:spcBef>
                <a:spcPts val="0"/>
              </a:spcBef>
              <a:spcAft>
                <a:spcPts val="200"/>
              </a:spcAft>
              <a:buNone/>
            </a:pPr>
            <a:r>
              <a:rPr sz="1000" i="1">
                <a:solidFill>
                  <a:srgbClr val="5A5A5A"/>
                </a:solidFill>
              </a:rPr>
              <a:t>Every externally sourced claim in this deck is one of the standards or specifications listed here. Nothing is claimed about quantum-computer arrival dates, regulatory deadlines or competing products: Q-Day is treated throughout as an operator-chosen scenario.</a:t>
            </a:r>
          </a:p>
        </p:txBody>
      </p:sp>
      <p:pic>
        <p:nvPicPr>
          <p:cNvPr id="17412" name="cd-shot-05-cbom-export" descr="05-cbom-export-top46.png"/>
          <p:cNvPicPr>
            <a:picLocks noChangeAspect="1"/>
          </p:cNvPicPr>
          <p:nvPr/>
        </p:nvPicPr>
        <p:blipFill>
          <a:blip r:embed="rId4"/>
          <a:stretch>
            <a:fillRect/>
          </a:stretch>
        </p:blipFill>
        <p:spPr>
          <a:xfrm>
            <a:off x="6693408" y="1993392"/>
            <a:ext cx="5084064" cy="926026"/>
          </a:xfrm>
          <a:prstGeom prst="rect">
            <a:avLst/>
          </a:prstGeom>
        </p:spPr>
      </p:pic>
      <p:sp>
        <p:nvSpPr>
          <p:cNvPr id="17413" name="cd-caption"/>
          <p:cNvSpPr txBox="1"/>
          <p:nvPr/>
        </p:nvSpPr>
        <p:spPr>
          <a:xfrm>
            <a:off x="6693408" y="2974282"/>
            <a:ext cx="5084064" cy="274320"/>
          </a:xfrm>
          <a:prstGeom prst="rect">
            <a:avLst/>
          </a:prstGeom>
          <a:noFill/>
        </p:spPr>
        <p:txBody>
          <a:bodyPr wrap="square">
            <a:spAutoFit/>
          </a:bodyPr>
          <a:lstStyle/>
          <a:p>
            <a:pPr marL="0" indent="0">
              <a:buNone/>
            </a:pPr>
            <a:r>
              <a:rPr sz="950">
                <a:solidFill>
                  <a:srgbClr val="5A5A5A"/>
                </a:solidFill>
              </a:rPr>
              <a:t>Export and validation are the same screen: the CBOM is checked against the official schema on the spot.</a:t>
            </a:r>
          </a:p>
        </p:txBody>
      </p:sp>
      <p:pic>
        <p:nvPicPr>
          <p:cNvPr id="17414" name="cd-shot-03-migration-plan" descr="03-migration-plan-top72.png"/>
          <p:cNvPicPr>
            <a:picLocks noChangeAspect="1"/>
          </p:cNvPicPr>
          <p:nvPr/>
        </p:nvPicPr>
        <p:blipFill>
          <a:blip r:embed="rId5"/>
          <a:stretch>
            <a:fillRect/>
          </a:stretch>
        </p:blipFill>
        <p:spPr>
          <a:xfrm>
            <a:off x="6693408" y="3522922"/>
            <a:ext cx="5084064" cy="1718898"/>
          </a:xfrm>
          <a:prstGeom prst="rect">
            <a:avLst/>
          </a:prstGeom>
        </p:spPr>
      </p:pic>
      <p:sp>
        <p:nvSpPr>
          <p:cNvPr id="17415" name="cd-caption"/>
          <p:cNvSpPr txBox="1"/>
          <p:nvPr/>
        </p:nvSpPr>
        <p:spPr>
          <a:xfrm>
            <a:off x="6693408" y="5296684"/>
            <a:ext cx="5084064" cy="274320"/>
          </a:xfrm>
          <a:prstGeom prst="rect">
            <a:avLst/>
          </a:prstGeom>
          <a:noFill/>
        </p:spPr>
        <p:txBody>
          <a:bodyPr wrap="square">
            <a:spAutoFit/>
          </a:bodyPr>
          <a:lstStyle/>
          <a:p>
            <a:pPr marL="0" indent="0">
              <a:buNone/>
            </a:pPr>
            <a:r>
              <a:rPr sz="950">
                <a:solidFill>
                  <a:srgbClr val="5A5A5A"/>
                </a:solidFill>
              </a:rPr>
              <a:t>The standards on the left, applied: every asset is given the target that matches its purpose, and anything unresolved is handed to a human instead of guessed.</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